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270" r:id="rId4"/>
    <p:sldId id="264" r:id="rId5"/>
    <p:sldId id="272" r:id="rId6"/>
    <p:sldId id="271" r:id="rId7"/>
    <p:sldId id="26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2" r:id="rId16"/>
    <p:sldId id="28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4F2"/>
    <a:srgbClr val="01CCFF"/>
    <a:srgbClr val="0DC0FF"/>
    <a:srgbClr val="05B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0F3DD4-1152-0153-1C07-1657430079AF}" v="23" dt="2023-03-26T21:17:01.9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58" autoAdjust="0"/>
    <p:restoredTop sz="94660"/>
  </p:normalViewPr>
  <p:slideViewPr>
    <p:cSldViewPr snapToGrid="0">
      <p:cViewPr varScale="1">
        <p:scale>
          <a:sx n="84" d="100"/>
          <a:sy n="84" d="100"/>
        </p:scale>
        <p:origin x="290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5C5B81-6D3C-324B-1D70-12F6AA44804C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9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E9979AA6-E3C5-CBDB-656B-BBF3673289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443" y="1130179"/>
            <a:ext cx="9379113" cy="4597642"/>
          </a:xfrm>
          <a:prstGeom prst="rect">
            <a:avLst/>
          </a:prstGeom>
          <a:effectLst>
            <a:glow>
              <a:schemeClr val="tx1"/>
            </a:glow>
            <a:outerShdw blurRad="50800" dist="50800" dir="5400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DC9C2A-0E96-B3DD-E72A-B658606A10BB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895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Gre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Content Placeholder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D75D2FB5-A6FD-7717-B985-1C45B267774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2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443" y="1130179"/>
            <a:ext cx="9379113" cy="4597642"/>
          </a:xfrm>
          <a:prstGeom prst="rect">
            <a:avLst/>
          </a:prstGeom>
          <a:effectLst>
            <a:glow>
              <a:schemeClr val="tx1"/>
            </a:glow>
            <a:outerShdw blurRad="50800" dist="50800" dir="5400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7E1513E-D9F7-4665-D50A-C49BD0623386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71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Gre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Content Placeholder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D75D2FB5-A6FD-7717-B985-1C45B267774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2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443" y="1130179"/>
            <a:ext cx="9379113" cy="4597642"/>
          </a:xfrm>
          <a:prstGeom prst="rect">
            <a:avLst/>
          </a:prstGeom>
          <a:effectLst>
            <a:glow>
              <a:schemeClr val="tx1"/>
            </a:glow>
            <a:outerShdw blurRad="50800" dist="50800" dir="5400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A7E8DB-A4AC-8027-9A53-75C66510D5D0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3402038" y="3509963"/>
            <a:ext cx="5438686" cy="0"/>
          </a:xfrm>
          <a:prstGeom prst="line">
            <a:avLst/>
          </a:prstGeom>
          <a:noFill/>
          <a:ln w="25400">
            <a:solidFill>
              <a:srgbClr val="660066"/>
            </a:solidFill>
            <a:prstDash val="dot"/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7629CA6-0662-2D71-1B21-AE49055667F6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346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Gre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E1C1C02C-18E1-780A-8763-41AE0F2917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443" y="1130179"/>
            <a:ext cx="9379113" cy="4597642"/>
          </a:xfrm>
          <a:prstGeom prst="rect">
            <a:avLst/>
          </a:prstGeom>
          <a:effectLst>
            <a:glow>
              <a:schemeClr val="tx1"/>
            </a:glow>
            <a:outerShdw blurRad="50800" dist="50800" dir="5400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4400" y="2500833"/>
            <a:ext cx="4347501" cy="565735"/>
          </a:xfrm>
        </p:spPr>
        <p:txBody>
          <a:bodyPr anchor="b">
            <a:normAutofit/>
          </a:bodyPr>
          <a:lstStyle>
            <a:lvl1pPr algn="ctr">
              <a:defRPr sz="3000" spc="150" baseline="0">
                <a:solidFill>
                  <a:schemeClr val="bg2">
                    <a:lumMod val="50000"/>
                  </a:schemeClr>
                </a:solidFill>
                <a:latin typeface="Nexa-Bold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429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 i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644F0A-52D2-552F-0A18-5EBE0472DC5E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4111F31-A7FB-AB43-EE29-2BCF7DB70B07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3059138" y="3066568"/>
            <a:ext cx="5438686" cy="0"/>
          </a:xfrm>
          <a:prstGeom prst="line">
            <a:avLst/>
          </a:prstGeom>
          <a:noFill/>
          <a:ln w="25400">
            <a:solidFill>
              <a:srgbClr val="660066"/>
            </a:solidFill>
            <a:prstDash val="dot"/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104487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Logo 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27661D-AEBD-17AC-4B6C-4A3EDB784F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0" name="Arc 9">
            <a:extLst>
              <a:ext uri="{FF2B5EF4-FFF2-40B4-BE49-F238E27FC236}">
                <a16:creationId xmlns:a16="http://schemas.microsoft.com/office/drawing/2014/main" id="{7A42C6AB-54B1-13FD-E709-ED01A315E46D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>
            <a:solidFill>
              <a:schemeClr val="accent3">
                <a:alpha val="3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956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Logo Gre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27661D-AEBD-17AC-4B6C-4A3EDB784F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0" name="Arc 9">
            <a:extLst>
              <a:ext uri="{FF2B5EF4-FFF2-40B4-BE49-F238E27FC236}">
                <a16:creationId xmlns:a16="http://schemas.microsoft.com/office/drawing/2014/main" id="{7A42C6AB-54B1-13FD-E709-ED01A315E46D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>
            <a:solidFill>
              <a:schemeClr val="accent3">
                <a:alpha val="3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332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ogo White/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831A6E-5C61-78AF-5D8D-D13531A7B8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23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chemeClr val="bg1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chemeClr val="bg1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493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 Logo White/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F30BF6-4AB5-5793-16E3-01544A52D6F8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358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 Logo Blue/Blac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831A6E-5C61-78AF-5D8D-D13531A7B8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23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chemeClr val="bg1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chemeClr val="bg1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3F2E9BD9-31F1-4DD0-ADA8-BBC83DFA5C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09" b="28208"/>
          <a:stretch/>
        </p:blipFill>
        <p:spPr>
          <a:xfrm>
            <a:off x="5152292" y="1081454"/>
            <a:ext cx="7039708" cy="5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170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 Logo White/Black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3F2E9BD9-31F1-4DD0-ADA8-BBC83DFA5C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09" b="28208"/>
          <a:stretch/>
        </p:blipFill>
        <p:spPr>
          <a:xfrm>
            <a:off x="5152292" y="1081454"/>
            <a:ext cx="7039708" cy="5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96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 Logo White/Black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F30BF6-4AB5-5793-16E3-01544A52D6F8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62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/Whi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831A6E-5C61-78AF-5D8D-D13531A7B8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23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chemeClr val="bg1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chemeClr val="bg1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55858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/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0CD09993-40FE-D87D-E713-03530C1AD52C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8066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/Blac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831A6E-5C61-78AF-5D8D-D13531A7B8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23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chemeClr val="bg1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chemeClr val="bg1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22815400-80B1-A44B-1B13-B0799E1E56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09" b="28208"/>
          <a:stretch/>
        </p:blipFill>
        <p:spPr>
          <a:xfrm>
            <a:off x="5152292" y="1081454"/>
            <a:ext cx="7039708" cy="5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1741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ack/Whi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311E6D7D-FA47-43C4-18B5-A38BE31725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09" b="28208"/>
          <a:stretch/>
        </p:blipFill>
        <p:spPr>
          <a:xfrm>
            <a:off x="5152292" y="1081454"/>
            <a:ext cx="7039708" cy="5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531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/Grey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00CF986-FD5A-5975-2EC8-F0EACE7041A6}"/>
              </a:ext>
            </a:extLst>
          </p:cNvPr>
          <p:cNvGrpSpPr/>
          <p:nvPr userDrawn="1"/>
        </p:nvGrpSpPr>
        <p:grpSpPr>
          <a:xfrm>
            <a:off x="5159912" y="1072085"/>
            <a:ext cx="7936447" cy="7920404"/>
            <a:chOff x="5159912" y="1072085"/>
            <a:chExt cx="7936447" cy="79204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8369ACA-2F12-CB63-910E-229CF3B4A65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5159912" y="1081454"/>
              <a:ext cx="7032088" cy="5776546"/>
            </a:xfrm>
            <a:prstGeom prst="rect">
              <a:avLst/>
            </a:prstGeom>
          </p:spPr>
        </p:pic>
        <p:sp>
          <p:nvSpPr>
            <p:cNvPr id="6" name="Arc 5">
              <a:extLst>
                <a:ext uri="{FF2B5EF4-FFF2-40B4-BE49-F238E27FC236}">
                  <a16:creationId xmlns:a16="http://schemas.microsoft.com/office/drawing/2014/main" id="{AA18C82D-3997-C9C4-9292-DDEE574A48F2}"/>
                </a:ext>
              </a:extLst>
            </p:cNvPr>
            <p:cNvSpPr/>
            <p:nvPr userDrawn="1"/>
          </p:nvSpPr>
          <p:spPr>
            <a:xfrm rot="16200000">
              <a:off x="5175955" y="1072085"/>
              <a:ext cx="7920404" cy="7920404"/>
            </a:xfrm>
            <a:prstGeom prst="arc">
              <a:avLst>
                <a:gd name="adj1" fmla="val 14553369"/>
                <a:gd name="adj2" fmla="val 3028724"/>
              </a:avLst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96205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/Grey Small Log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69ACA-2F12-CB63-910E-229CF3B4A6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7209216" y="2764866"/>
            <a:ext cx="4982784" cy="4093134"/>
          </a:xfrm>
          <a:prstGeom prst="rect">
            <a:avLst/>
          </a:prstGeom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AA18C82D-3997-C9C4-9292-DDEE574A48F2}"/>
              </a:ext>
            </a:extLst>
          </p:cNvPr>
          <p:cNvSpPr/>
          <p:nvPr userDrawn="1"/>
        </p:nvSpPr>
        <p:spPr>
          <a:xfrm rot="16200000">
            <a:off x="7220584" y="2758227"/>
            <a:ext cx="5612225" cy="5612225"/>
          </a:xfrm>
          <a:prstGeom prst="arc">
            <a:avLst>
              <a:gd name="adj1" fmla="val 14553369"/>
              <a:gd name="adj2" fmla="val 3028724"/>
            </a:avLst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29780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6246F-D609-1C10-0EB3-9CF35C14B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542D5-98E3-7038-3BFF-A5325C1D2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9CCB5-FC8A-483F-915E-2A1D0738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3F7E3-490D-2C48-1565-E6F221044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220CC-6F22-09A2-7E9D-DA486A43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DD1BAC43-B2E1-6547-0894-0809FAA633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A586EE-FFC8-C208-98D9-142C9112AF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E1595E-1FBB-5E6B-0D28-2FE5224DF462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7854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6246F-D609-1C10-0EB3-9CF35C14B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542D5-98E3-7038-3BFF-A5325C1D2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9CCB5-FC8A-483F-915E-2A1D0738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3F7E3-490D-2C48-1565-E6F221044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220CC-6F22-09A2-7E9D-DA486A43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DD1BAC43-B2E1-6547-0894-0809FAA633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A586EE-FFC8-C208-98D9-142C9112AF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E1595E-1FBB-5E6B-0D28-2FE5224DF462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64BDB03-EE9E-E849-B5B7-7F755201AD96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D3C7453-7434-0F61-820C-861F0B51D33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F965FC7E-67B7-8CA6-E111-C3EE58075659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912088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6246F-D609-1C10-0EB3-9CF35C14B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542D5-98E3-7038-3BFF-A5325C1D2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1396"/>
            <a:ext cx="4686300" cy="435556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9CCB5-FC8A-483F-915E-2A1D0738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3F7E3-490D-2C48-1565-E6F221044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220CC-6F22-09A2-7E9D-DA486A43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DD1BAC43-B2E1-6547-0894-0809FAA633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A586EE-FFC8-C208-98D9-142C9112AF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E1595E-1FBB-5E6B-0D28-2FE5224DF462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DE48A463-ECCE-6B5E-9715-FC07CD45CDBE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5524500" y="1821396"/>
            <a:ext cx="6172200" cy="43513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313443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AE5F8-BA05-625A-5CFF-F73BCF9EB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3E5A6-FC4B-EB5C-90C8-333336869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663AB-0CE7-8E34-6623-AABCE026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BDC64-110A-8540-9118-86881BDD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87476-257F-CF5F-4A7A-1F3D7114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21C370-4329-74F8-53D7-0F2867389B97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37C3A75D-A481-EE0C-754D-506C7D4C1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B996CC59-0A80-78A3-5AAD-4BFC5DB4BE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847D22-0D7C-891C-2955-0D65480A5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1179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AE5F8-BA05-625A-5CFF-F73BCF9EB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3E5A6-FC4B-EB5C-90C8-333336869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663AB-0CE7-8E34-6623-AABCE026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BDC64-110A-8540-9118-86881BDD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87476-257F-CF5F-4A7A-1F3D7114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21C370-4329-74F8-53D7-0F2867389B97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37C3A75D-A481-EE0C-754D-506C7D4C1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B996CC59-0A80-78A3-5AAD-4BFC5DB4BE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847D22-0D7C-891C-2955-0D65480A5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B0B799A-35E1-5885-20B2-35BB5A3F278D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6DD9644-D426-35AF-FB09-853CF8CECC0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6F475831-7E53-2D67-970D-48331E632951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204742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ide Titl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AE5F8-BA05-625A-5CFF-F73BCF9EB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96638" y="1240628"/>
            <a:ext cx="4202927" cy="496649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3E5A6-FC4B-EB5C-90C8-333336869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46157" y="1240627"/>
            <a:ext cx="4202927" cy="496649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663AB-0CE7-8E34-6623-AABCE026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BDC64-110A-8540-9118-86881BDD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87476-257F-CF5F-4A7A-1F3D7114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B996CC59-0A80-78A3-5AAD-4BFC5DB4BE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847D22-0D7C-891C-2955-0D65480A5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468B5B9-4860-7149-0E8A-82EEB1C88E0A}"/>
              </a:ext>
            </a:extLst>
          </p:cNvPr>
          <p:cNvCxnSpPr>
            <a:cxnSpLocks/>
          </p:cNvCxnSpPr>
          <p:nvPr userDrawn="1"/>
        </p:nvCxnSpPr>
        <p:spPr>
          <a:xfrm>
            <a:off x="2247324" y="1113025"/>
            <a:ext cx="0" cy="49448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DFC2CCFA-FF5F-3C03-B961-E11526B1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844288" y="2933491"/>
            <a:ext cx="4966498" cy="1325563"/>
          </a:xfrm>
        </p:spPr>
        <p:txBody>
          <a:bodyPr/>
          <a:lstStyle>
            <a:lvl1pPr algn="ctr"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0418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ide Titl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AE5F8-BA05-625A-5CFF-F73BCF9EB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96638" y="1240628"/>
            <a:ext cx="4202927" cy="496649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3E5A6-FC4B-EB5C-90C8-333336869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46157" y="1240627"/>
            <a:ext cx="4202927" cy="496649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663AB-0CE7-8E34-6623-AABCE026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BDC64-110A-8540-9118-86881BDD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87476-257F-CF5F-4A7A-1F3D7114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B996CC59-0A80-78A3-5AAD-4BFC5DB4BE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847D22-0D7C-891C-2955-0D65480A5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468B5B9-4860-7149-0E8A-82EEB1C88E0A}"/>
              </a:ext>
            </a:extLst>
          </p:cNvPr>
          <p:cNvCxnSpPr>
            <a:cxnSpLocks/>
          </p:cNvCxnSpPr>
          <p:nvPr userDrawn="1"/>
        </p:nvCxnSpPr>
        <p:spPr>
          <a:xfrm>
            <a:off x="2247324" y="1113025"/>
            <a:ext cx="0" cy="49448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DFC2CCFA-FF5F-3C03-B961-E11526B1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844288" y="2933491"/>
            <a:ext cx="4966498" cy="1325563"/>
          </a:xfrm>
        </p:spPr>
        <p:txBody>
          <a:bodyPr/>
          <a:lstStyle>
            <a:lvl1pPr algn="ctr"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91C2020-6297-BAE9-FFAD-EAD757C9C03F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3EBFA66-BB0C-45B3-9E05-EA476847EED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23DEF0E3-00E5-BFD5-08D5-2E5E65294C13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2440112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A924F-E77C-8EC8-404A-9AF7FA3B8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6FDE-DDDF-18EE-E2A6-2995032D3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ADA1C-ED2D-732E-1A7A-4215CFFF4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566DA1-ECAC-2895-C269-5C781DF200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457C43-BD96-D113-E7AD-D7E533FD4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AD7B6F-4ABE-0C37-896E-BF937C6DF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2FEB5C-8DA8-0CFC-3832-14733F3A4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70C703C5-3462-2237-D5D6-DDA7E0988E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4A1556-D8AF-CBF0-C594-8297CE75CA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2958F2-B07A-BB18-4654-A7B6CD008C1D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CD5EBC7E-DBFB-BBCD-1B52-A4CF4204D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71450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A924F-E77C-8EC8-404A-9AF7FA3B8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6FDE-DDDF-18EE-E2A6-2995032D3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ADA1C-ED2D-732E-1A7A-4215CFFF4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566DA1-ECAC-2895-C269-5C781DF200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457C43-BD96-D113-E7AD-D7E533FD4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AD7B6F-4ABE-0C37-896E-BF937C6DF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2FEB5C-8DA8-0CFC-3832-14733F3A4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70C703C5-3462-2237-D5D6-DDA7E0988E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4A1556-D8AF-CBF0-C594-8297CE75CA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2958F2-B07A-BB18-4654-A7B6CD008C1D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CD5EBC7E-DBFB-BBCD-1B52-A4CF4204D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B05ED7F-C3CB-F1AB-0D13-40D64480E1EB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02B66CE-628F-83AA-6C65-C9CFDA2A244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4175E3FC-6420-950D-4C4B-59ED294A8095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6585520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C03C37-5C37-2063-819B-329CAD4A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BAAEE-96EB-9E9E-BDF2-6A6C0D037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CBE1CF-5E11-CF13-4A01-B0F9248E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D109EB06-7C76-7254-6295-E04BAFF336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7C597F-3E1D-F7FE-C64A-4CE204FD97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3D9BE7-455B-6B8A-D812-806831664E6D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0A076A08-4A72-105F-5348-DE95D0525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62538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C03C37-5C37-2063-819B-329CAD4A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BAAEE-96EB-9E9E-BDF2-6A6C0D037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CBE1CF-5E11-CF13-4A01-B0F9248E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D109EB06-7C76-7254-6295-E04BAFF336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7C597F-3E1D-F7FE-C64A-4CE204FD97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3D9BE7-455B-6B8A-D812-806831664E6D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0A076A08-4A72-105F-5348-DE95D0525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292B77D-D732-E7D4-A6B1-0A966E6BF488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02C5448-A851-B643-5EAD-72DA0FDD41B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D11A7CE8-AD7B-8E77-CF09-1609492A8F9E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463395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308791A-1617-5FAE-52DC-B4FCE0CD3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5"/>
            <a:ext cx="1325563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293F7C-F4FA-76C8-EA05-1F84426B2B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1672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308791A-1617-5FAE-52DC-B4FCE0CD3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5"/>
            <a:ext cx="1325563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293F7C-F4FA-76C8-EA05-1F84426B2B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062EC69-293D-B068-6694-395BB9B235B7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19BD460-7D72-5C8C-9608-81656E56D4E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9603E80E-EE02-763E-A618-4043A879275E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878112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68516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A3A601-AD69-BD90-F09E-80EF172EFE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57F8D229-0EB4-A05E-9EAE-A42E73F9F4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48D10C-C2AC-E9A3-0317-086591DBE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06501"/>
            <a:ext cx="3932237" cy="850898"/>
          </a:xfrm>
        </p:spPr>
        <p:txBody>
          <a:bodyPr anchor="b"/>
          <a:lstStyle>
            <a:lvl1pPr>
              <a:defRPr sz="3200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2C8D8-EF13-9297-5883-FDD5DAECB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206501"/>
            <a:ext cx="6172200" cy="4654550"/>
          </a:xfrm>
        </p:spPr>
        <p:txBody>
          <a:bodyPr/>
          <a:lstStyle>
            <a:lvl1pPr>
              <a:defRPr sz="3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 sz="28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 sz="24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 sz="20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 sz="20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E8177A-3450-A672-3524-7CA2D51D6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  <a:latin typeface="Nexa-Book" panose="01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F38A2-818B-B1B4-9E19-F1AAAAEB7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BB7C3-13B6-EFC7-D954-A082C1AB4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86874-56F0-02BD-3A56-CDDF72E2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81DAA9-7159-FCB3-921B-0B55F1EBACE0}"/>
              </a:ext>
            </a:extLst>
          </p:cNvPr>
          <p:cNvCxnSpPr>
            <a:cxnSpLocks/>
          </p:cNvCxnSpPr>
          <p:nvPr userDrawn="1"/>
        </p:nvCxnSpPr>
        <p:spPr>
          <a:xfrm flipH="1">
            <a:off x="838200" y="2057400"/>
            <a:ext cx="393382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576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A3A601-AD69-BD90-F09E-80EF172EFE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57F8D229-0EB4-A05E-9EAE-A42E73F9F4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48D10C-C2AC-E9A3-0317-086591DBE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06501"/>
            <a:ext cx="3932237" cy="850898"/>
          </a:xfrm>
        </p:spPr>
        <p:txBody>
          <a:bodyPr anchor="b"/>
          <a:lstStyle>
            <a:lvl1pPr>
              <a:defRPr sz="3200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2C8D8-EF13-9297-5883-FDD5DAECB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206501"/>
            <a:ext cx="6172200" cy="4654550"/>
          </a:xfrm>
        </p:spPr>
        <p:txBody>
          <a:bodyPr/>
          <a:lstStyle>
            <a:lvl1pPr>
              <a:defRPr sz="3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 sz="28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 sz="24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 sz="20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 sz="20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E8177A-3450-A672-3524-7CA2D51D6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  <a:latin typeface="Nexa-Book" panose="01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F38A2-818B-B1B4-9E19-F1AAAAEB7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BB7C3-13B6-EFC7-D954-A082C1AB4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86874-56F0-02BD-3A56-CDDF72E2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81DAA9-7159-FCB3-921B-0B55F1EBACE0}"/>
              </a:ext>
            </a:extLst>
          </p:cNvPr>
          <p:cNvCxnSpPr>
            <a:cxnSpLocks/>
          </p:cNvCxnSpPr>
          <p:nvPr userDrawn="1"/>
        </p:nvCxnSpPr>
        <p:spPr>
          <a:xfrm flipH="1">
            <a:off x="838200" y="2057400"/>
            <a:ext cx="393382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0C984A1-6593-853A-9B97-65F3D4B10071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8B8DA1D-5808-60BA-D1A1-B8EECC1B70A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2B67F314-AC9F-2A3B-3561-2F1141B54268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628375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DF6C-F99F-1AFA-98D0-D46A9AD35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07476"/>
            <a:ext cx="3932237" cy="849923"/>
          </a:xfrm>
        </p:spPr>
        <p:txBody>
          <a:bodyPr anchor="b"/>
          <a:lstStyle>
            <a:lvl1pPr>
              <a:defRPr sz="3200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44C9D-2112-79B0-4816-9E78BD29BD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207476"/>
            <a:ext cx="6172200" cy="465357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8CF4E-C176-9D12-7120-4D0A9F2DAE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  <a:latin typeface="Nexa-Book" panose="01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FCB104-0143-327D-34B1-7151C91F2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EEECE-E60B-0CC8-E29F-58D51A513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91EF0-CF7E-5D1F-2062-9EBDCCA48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EA6701-4F96-CE0C-492C-6DFAA4D17F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4F42B12-34D2-EC73-93B8-A643C1AB71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8225E6E-34E3-8E0F-A53C-AEDCE8120288}"/>
              </a:ext>
            </a:extLst>
          </p:cNvPr>
          <p:cNvCxnSpPr>
            <a:cxnSpLocks/>
          </p:cNvCxnSpPr>
          <p:nvPr userDrawn="1"/>
        </p:nvCxnSpPr>
        <p:spPr>
          <a:xfrm flipH="1">
            <a:off x="838200" y="2057400"/>
            <a:ext cx="393382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33632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17214950-9F4F-61CB-028E-624818BE88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637" y="816637"/>
            <a:ext cx="5224725" cy="52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96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ck Logo Blue Backgo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AF69F4-770D-1B85-848B-D57E7B0CA1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0">
                <a:srgbClr val="00B0F0">
                  <a:shade val="67500"/>
                  <a:satMod val="115000"/>
                </a:srgbClr>
              </a:gs>
              <a:gs pos="85000">
                <a:srgbClr val="00B0F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17214950-9F4F-61CB-028E-624818BE88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637" y="816637"/>
            <a:ext cx="5224725" cy="52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3174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hite Logo Blu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6A0D65-B433-449D-A2E1-10BC8BD32A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0">
                <a:srgbClr val="00B0F0">
                  <a:shade val="67500"/>
                  <a:satMod val="115000"/>
                </a:srgbClr>
              </a:gs>
              <a:gs pos="44000">
                <a:srgbClr val="00B0F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00C4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214950-9F4F-61CB-028E-624818BE88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83637" y="816637"/>
            <a:ext cx="5224725" cy="52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62250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hite Logo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214950-9F4F-61CB-028E-624818BE88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83636" y="816636"/>
            <a:ext cx="5224725" cy="5224725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9CF1ACE1-D73B-D8C2-A924-FC1C935A2DAE}"/>
              </a:ext>
            </a:extLst>
          </p:cNvPr>
          <p:cNvSpPr/>
          <p:nvPr userDrawn="1"/>
        </p:nvSpPr>
        <p:spPr>
          <a:xfrm>
            <a:off x="3483636" y="816637"/>
            <a:ext cx="5224725" cy="5224725"/>
          </a:xfrm>
          <a:prstGeom prst="ellipse">
            <a:avLst/>
          </a:prstGeom>
          <a:noFill/>
          <a:ln w="38100">
            <a:solidFill>
              <a:srgbClr val="01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785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E79A1B-8910-5BC1-CF92-B38FE72CB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46328-37A7-2676-1096-E57A9505D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F5011-76B3-0174-3A68-9C86EC07D8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7316D-C409-4712-90E5-1C58F0743890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66A41-F04C-56FA-AB94-EC92BB1FF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F6920-6913-6447-389F-BACD3E6EE7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D00A0-B5A4-4974-B922-5D8D8E00DF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808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66" r:id="rId3"/>
    <p:sldLayoutId id="2147483670" r:id="rId4"/>
    <p:sldLayoutId id="2147483676" r:id="rId5"/>
    <p:sldLayoutId id="2147483667" r:id="rId6"/>
    <p:sldLayoutId id="2147483671" r:id="rId7"/>
    <p:sldLayoutId id="2147483660" r:id="rId8"/>
    <p:sldLayoutId id="2147483665" r:id="rId9"/>
    <p:sldLayoutId id="2147483672" r:id="rId10"/>
    <p:sldLayoutId id="2147483673" r:id="rId11"/>
    <p:sldLayoutId id="2147483664" r:id="rId12"/>
    <p:sldLayoutId id="2147483661" r:id="rId13"/>
    <p:sldLayoutId id="2147483662" r:id="rId14"/>
    <p:sldLayoutId id="2147483674" r:id="rId15"/>
    <p:sldLayoutId id="2147483675" r:id="rId16"/>
    <p:sldLayoutId id="2147483663" r:id="rId17"/>
    <p:sldLayoutId id="2147483691" r:id="rId18"/>
    <p:sldLayoutId id="2147483677" r:id="rId19"/>
    <p:sldLayoutId id="2147483679" r:id="rId20"/>
    <p:sldLayoutId id="2147483678" r:id="rId21"/>
    <p:sldLayoutId id="2147483680" r:id="rId22"/>
    <p:sldLayoutId id="2147483681" r:id="rId23"/>
    <p:sldLayoutId id="2147483692" r:id="rId24"/>
    <p:sldLayoutId id="2147483682" r:id="rId25"/>
    <p:sldLayoutId id="2147483683" r:id="rId26"/>
    <p:sldLayoutId id="2147483693" r:id="rId27"/>
    <p:sldLayoutId id="2147483685" r:id="rId28"/>
    <p:sldLayoutId id="2147483684" r:id="rId29"/>
    <p:sldLayoutId id="2147483687" r:id="rId30"/>
    <p:sldLayoutId id="2147483686" r:id="rId31"/>
    <p:sldLayoutId id="2147483688" r:id="rId32"/>
    <p:sldLayoutId id="2147483695" r:id="rId33"/>
    <p:sldLayoutId id="2147483689" r:id="rId34"/>
    <p:sldLayoutId id="2147483690" r:id="rId35"/>
    <p:sldLayoutId id="2147483696" r:id="rId36"/>
    <p:sldLayoutId id="2147483698" r:id="rId37"/>
    <p:sldLayoutId id="2147483697" r:id="rId38"/>
    <p:sldLayoutId id="2147483699" r:id="rId3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4.png"/><Relationship Id="rId21" Type="http://schemas.openxmlformats.org/officeDocument/2006/relationships/image" Target="../media/image32.sv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sv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svg"/><Relationship Id="rId10" Type="http://schemas.openxmlformats.org/officeDocument/2006/relationships/image" Target="../media/image21.sv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31.png"/><Relationship Id="rId18" Type="http://schemas.openxmlformats.org/officeDocument/2006/relationships/image" Target="../media/image46.png"/><Relationship Id="rId3" Type="http://schemas.openxmlformats.org/officeDocument/2006/relationships/image" Target="../media/image35.png"/><Relationship Id="rId21" Type="http://schemas.openxmlformats.org/officeDocument/2006/relationships/image" Target="../media/image49.png"/><Relationship Id="rId7" Type="http://schemas.openxmlformats.org/officeDocument/2006/relationships/image" Target="../media/image39.png"/><Relationship Id="rId12" Type="http://schemas.openxmlformats.org/officeDocument/2006/relationships/image" Target="../media/image26.svg"/><Relationship Id="rId17" Type="http://schemas.openxmlformats.org/officeDocument/2006/relationships/image" Target="../media/image45.svg"/><Relationship Id="rId2" Type="http://schemas.openxmlformats.org/officeDocument/2006/relationships/image" Target="../media/image34.png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8.png"/><Relationship Id="rId11" Type="http://schemas.openxmlformats.org/officeDocument/2006/relationships/image" Target="../media/image25.png"/><Relationship Id="rId5" Type="http://schemas.openxmlformats.org/officeDocument/2006/relationships/image" Target="../media/image37.png"/><Relationship Id="rId15" Type="http://schemas.openxmlformats.org/officeDocument/2006/relationships/image" Target="../media/image43.png"/><Relationship Id="rId10" Type="http://schemas.openxmlformats.org/officeDocument/2006/relationships/image" Target="../media/image42.png"/><Relationship Id="rId19" Type="http://schemas.openxmlformats.org/officeDocument/2006/relationships/image" Target="../media/image4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32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59.png"/><Relationship Id="rId18" Type="http://schemas.openxmlformats.org/officeDocument/2006/relationships/image" Target="../media/image62.png"/><Relationship Id="rId3" Type="http://schemas.openxmlformats.org/officeDocument/2006/relationships/image" Target="../media/image52.svg"/><Relationship Id="rId21" Type="http://schemas.openxmlformats.org/officeDocument/2006/relationships/image" Target="../media/image65.png"/><Relationship Id="rId7" Type="http://schemas.openxmlformats.org/officeDocument/2006/relationships/image" Target="../media/image56.png"/><Relationship Id="rId12" Type="http://schemas.openxmlformats.org/officeDocument/2006/relationships/image" Target="../media/image21.svg"/><Relationship Id="rId17" Type="http://schemas.openxmlformats.org/officeDocument/2006/relationships/image" Target="../media/image26.svg"/><Relationship Id="rId2" Type="http://schemas.openxmlformats.org/officeDocument/2006/relationships/image" Target="../media/image51.png"/><Relationship Id="rId16" Type="http://schemas.openxmlformats.org/officeDocument/2006/relationships/image" Target="../media/image25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55.png"/><Relationship Id="rId11" Type="http://schemas.openxmlformats.org/officeDocument/2006/relationships/image" Target="../media/image20.png"/><Relationship Id="rId24" Type="http://schemas.openxmlformats.org/officeDocument/2006/relationships/image" Target="../media/image68.svg"/><Relationship Id="rId5" Type="http://schemas.openxmlformats.org/officeDocument/2006/relationships/image" Target="../media/image54.png"/><Relationship Id="rId15" Type="http://schemas.openxmlformats.org/officeDocument/2006/relationships/image" Target="../media/image61.png"/><Relationship Id="rId23" Type="http://schemas.openxmlformats.org/officeDocument/2006/relationships/image" Target="../media/image67.png"/><Relationship Id="rId10" Type="http://schemas.openxmlformats.org/officeDocument/2006/relationships/image" Target="../media/image13.png"/><Relationship Id="rId19" Type="http://schemas.openxmlformats.org/officeDocument/2006/relationships/image" Target="../media/image63.sv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0.png"/><Relationship Id="rId22" Type="http://schemas.openxmlformats.org/officeDocument/2006/relationships/image" Target="../media/image66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67.png"/><Relationship Id="rId18" Type="http://schemas.openxmlformats.org/officeDocument/2006/relationships/image" Target="../media/image78.png"/><Relationship Id="rId3" Type="http://schemas.openxmlformats.org/officeDocument/2006/relationships/image" Target="../media/image350.png"/><Relationship Id="rId21" Type="http://schemas.openxmlformats.org/officeDocument/2006/relationships/image" Target="../media/image81.svg"/><Relationship Id="rId7" Type="http://schemas.openxmlformats.org/officeDocument/2006/relationships/image" Target="../media/image73.png"/><Relationship Id="rId12" Type="http://schemas.openxmlformats.org/officeDocument/2006/relationships/image" Target="../media/image26.svg"/><Relationship Id="rId17" Type="http://schemas.openxmlformats.org/officeDocument/2006/relationships/image" Target="../media/image45.svg"/><Relationship Id="rId25" Type="http://schemas.openxmlformats.org/officeDocument/2006/relationships/image" Target="../media/image85.svg"/><Relationship Id="rId2" Type="http://schemas.openxmlformats.org/officeDocument/2006/relationships/image" Target="../media/image69.png"/><Relationship Id="rId16" Type="http://schemas.openxmlformats.org/officeDocument/2006/relationships/image" Target="../media/image44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72.png"/><Relationship Id="rId11" Type="http://schemas.openxmlformats.org/officeDocument/2006/relationships/image" Target="../media/image25.png"/><Relationship Id="rId24" Type="http://schemas.openxmlformats.org/officeDocument/2006/relationships/image" Target="../media/image84.png"/><Relationship Id="rId5" Type="http://schemas.openxmlformats.org/officeDocument/2006/relationships/image" Target="../media/image71.png"/><Relationship Id="rId15" Type="http://schemas.openxmlformats.org/officeDocument/2006/relationships/image" Target="../media/image77.png"/><Relationship Id="rId23" Type="http://schemas.openxmlformats.org/officeDocument/2006/relationships/image" Target="../media/image83.svg"/><Relationship Id="rId10" Type="http://schemas.openxmlformats.org/officeDocument/2006/relationships/image" Target="../media/image76.png"/><Relationship Id="rId19" Type="http://schemas.openxmlformats.org/officeDocument/2006/relationships/image" Target="../media/image79.sv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68.svg"/><Relationship Id="rId22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8318C-84BC-7CAF-1920-BDB2683B13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Kalman Filter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1A4935-3D19-AB50-0F3E-D10D91D174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Solved example 1D</a:t>
            </a:r>
          </a:p>
        </p:txBody>
      </p:sp>
    </p:spTree>
    <p:extLst>
      <p:ext uri="{BB962C8B-B14F-4D97-AF65-F5344CB8AC3E}">
        <p14:creationId xmlns:p14="http://schemas.microsoft.com/office/powerpoint/2010/main" val="159188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60B311-FFF6-1D3F-AC4B-11095736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Statement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4C28E0C-C9D2-8FD0-5595-B7D136D46A09}"/>
                  </a:ext>
                </a:extLst>
              </p:cNvPr>
              <p:cNvSpPr txBox="1"/>
              <p:nvPr/>
            </p:nvSpPr>
            <p:spPr>
              <a:xfrm>
                <a:off x="689047" y="1653987"/>
                <a:ext cx="10283753" cy="8878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1000"/>
                  </a:spcAft>
                </a:pPr>
                <a:r>
                  <a:rPr lang="en-GB" dirty="0">
                    <a:solidFill>
                      <a:schemeClr val="bg2">
                        <a:lumMod val="50000"/>
                      </a:schemeClr>
                    </a:solidFill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Using the Kalman filter, estimate the position of a 1D linear robot for two timesteps, i.e., </a:t>
                </a:r>
                <a14:m>
                  <m:oMath xmlns:m="http://schemas.openxmlformats.org/officeDocument/2006/math">
                    <m:r>
                      <a:rPr lang="en-GB" b="0" i="0" smtClean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sSub>
                      <m:sSubPr>
                        <m:ctrlPr>
                          <a:rPr lang="en-GB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Nexa Light" panose="02000000000000000000" pitchFamily="50" charset="0"/>
                    <a:ea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Nexa Light" panose="02000000000000000000" pitchFamily="50" charset="0"/>
                    <a:ea typeface="Calibri" panose="020F0502020204030204" pitchFamily="34" charset="0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𝛴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Nexa Light" panose="02000000000000000000" pitchFamily="50" charset="0"/>
                    <a:ea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𝛴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GB" b="0" i="0" smtClean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GB" dirty="0">
                  <a:solidFill>
                    <a:schemeClr val="bg1">
                      <a:lumMod val="50000"/>
                    </a:schemeClr>
                  </a:solidFill>
                  <a:latin typeface="Nexa Light" panose="02000000000000000000" pitchFamily="50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4C28E0C-C9D2-8FD0-5595-B7D136D46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047" y="1653987"/>
                <a:ext cx="10283753" cy="887872"/>
              </a:xfrm>
              <a:prstGeom prst="rect">
                <a:avLst/>
              </a:prstGeom>
              <a:blipFill>
                <a:blip r:embed="rId2"/>
                <a:stretch>
                  <a:fillRect l="-474" r="-533" b="-102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" name="Picture 70">
            <a:extLst>
              <a:ext uri="{FF2B5EF4-FFF2-40B4-BE49-F238E27FC236}">
                <a16:creationId xmlns:a16="http://schemas.microsoft.com/office/drawing/2014/main" id="{415EAD73-E889-DFFF-6668-0762633D2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5" y="2619189"/>
            <a:ext cx="11607790" cy="273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613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60B311-FFF6-1D3F-AC4B-11095736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Statement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4C28E0C-C9D2-8FD0-5595-B7D136D46A09}"/>
                  </a:ext>
                </a:extLst>
              </p:cNvPr>
              <p:cNvSpPr txBox="1"/>
              <p:nvPr/>
            </p:nvSpPr>
            <p:spPr>
              <a:xfrm>
                <a:off x="312530" y="1628637"/>
                <a:ext cx="5783469" cy="44374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1000"/>
                  </a:spcAft>
                </a:pPr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Consider the following State Space model (General form):</a:t>
                </a:r>
              </a:p>
              <a:p>
                <a:pPr>
                  <a:lnSpc>
                    <a:spcPct val="150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6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GB" sz="1600" b="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0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1600" b="0" i="0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a:rPr lang="en-GB" sz="1600" b="0" i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r>
                                <a:rPr lang="en-GB" sz="1600" b="1" i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  <m:sSub>
                                <m:sSubPr>
                                  <m:ctrlPr>
                                    <a:rPr lang="en-GB" sz="1600" b="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b="0" i="0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1600" b="0" i="0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en-GB" sz="1600" b="0" i="0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GB" sz="1600" b="0" i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600" b="1" i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  <m:sSub>
                                <m:sSubPr>
                                  <m:ctrlPr>
                                    <a:rPr lang="en-GB" sz="1600" b="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b="0" i="0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1600" b="0" i="0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a:rPr lang="en-GB" sz="1600" b="0" i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1600" b="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0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𝐪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1600" b="0" i="0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sz="1600" b="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0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𝐲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1600" b="0" i="0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a:rPr lang="en-GB" sz="1600" b="0" i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r>
                                <a:rPr lang="en-GB" sz="1600" b="1" i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𝐂</m:t>
                              </m:r>
                              <m:sSub>
                                <m:sSubPr>
                                  <m:ctrlPr>
                                    <a:rPr lang="en-GB" sz="1600" b="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b="0" i="0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1600" b="0" i="0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a:rPr lang="en-GB" sz="1600" b="0" i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600" b="1" i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𝐃</m:t>
                              </m:r>
                              <m:sSub>
                                <m:sSubPr>
                                  <m:ctrlPr>
                                    <a:rPr lang="en-GB" sz="1600" b="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b="0" i="0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1600" b="0" i="0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a:rPr lang="en-GB" sz="1600" b="0" i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1600" b="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0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𝐫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1600" b="0" i="0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GB" sz="1600" dirty="0">
                  <a:solidFill>
                    <a:schemeClr val="bg1">
                      <a:lumMod val="50000"/>
                    </a:schemeClr>
                  </a:solidFill>
                  <a:latin typeface="Nexa Light" panose="02000000000000000000" pitchFamily="50" charset="0"/>
                </a:endParaRPr>
              </a:p>
              <a:p>
                <a:pPr>
                  <a:lnSpc>
                    <a:spcPct val="150000"/>
                  </a:lnSpc>
                  <a:spcAft>
                    <a:spcPts val="1000"/>
                  </a:spcAft>
                </a:pPr>
                <a:r>
                  <a:rPr lang="en-GB" sz="1600" dirty="0">
                    <a:solidFill>
                      <a:schemeClr val="bg1">
                        <a:lumMod val="50000"/>
                      </a:schemeClr>
                    </a:solidFill>
                    <a:latin typeface="Nexa Light" panose="02000000000000000000" pitchFamily="50" charset="0"/>
                  </a:rPr>
                  <a:t>Then, the linear motion and observation models for a robot in 1D can then be given as follows:</a:t>
                </a:r>
              </a:p>
              <a:p>
                <a:pPr>
                  <a:lnSpc>
                    <a:spcPct val="150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6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GB" sz="1600" b="0" i="1" dirty="0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GB" sz="1600" b="0" i="1" smtClean="0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600" b="0" i="0" smtClean="0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1600" b="0" i="0" dirty="0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a:rPr lang="en-GB" sz="1600" b="0" i="0" dirty="0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r>
                                <m:rPr>
                                  <m:sty m:val="p"/>
                                </m:rPr>
                                <a:rPr lang="en-GB" sz="1600" b="0" i="0" dirty="0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sSub>
                                <m:sSubPr>
                                  <m:ctrlPr>
                                    <a:rPr lang="en-GB" sz="1600" b="0" i="1" dirty="0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b="0" i="0" dirty="0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1600" b="0" i="0" dirty="0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en-GB" sz="1600" b="0" i="0" dirty="0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GB" sz="1600" b="0" i="0" dirty="0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GB" sz="1600" b="0" i="0" dirty="0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sSub>
                                <m:sSubPr>
                                  <m:ctrlPr>
                                    <a:rPr lang="en-GB" sz="1600" b="0" i="1" dirty="0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b="0" i="0" dirty="0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1600" b="0" i="0" dirty="0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a:rPr lang="en-GB" sz="1600" b="0" i="0" dirty="0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1600" b="0" i="1" dirty="0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b="0" i="0" dirty="0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1600" b="0" i="0" dirty="0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sz="1600" b="0" i="1" dirty="0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GB" sz="1600" b="0" i="1" smtClean="0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600" b="0" i="0" smtClean="0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1600" b="0" i="0" dirty="0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a:rPr lang="en-GB" sz="1600" b="0" i="0" dirty="0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r>
                                <m:rPr>
                                  <m:sty m:val="p"/>
                                </m:rPr>
                                <a:rPr lang="en-GB" sz="1600" b="0" i="0" dirty="0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  <m:d>
                                <m:dPr>
                                  <m:ctrlPr>
                                    <a:rPr lang="en-GB" sz="1600" b="0" i="1" dirty="0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600" b="0" i="1" dirty="0" smtClean="0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GB" sz="1600" b="0" i="1" dirty="0" smtClean="0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sz="1600" b="0" i="0" dirty="0" smtClean="0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μ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GB" sz="1600" b="0" i="0" dirty="0" smtClean="0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k</m:t>
                                      </m:r>
                                    </m:sub>
                                  </m:sSub>
                                  <m:r>
                                    <a:rPr lang="en-GB" sz="1600" b="0" i="0" dirty="0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GB" sz="1600" b="0" i="0" dirty="0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</m:d>
                              <m:r>
                                <a:rPr lang="en-GB" sz="1600" b="0" i="0" dirty="0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1600" b="0" i="1" dirty="0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b="0" i="0" dirty="0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1600" b="0" i="0" dirty="0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GB" sz="1600" dirty="0">
                  <a:solidFill>
                    <a:schemeClr val="bg1">
                      <a:lumMod val="50000"/>
                    </a:schemeClr>
                  </a:solidFill>
                  <a:latin typeface="Nexa Light" panose="02000000000000000000" pitchFamily="50" charset="0"/>
                </a:endParaRPr>
              </a:p>
              <a:p>
                <a:pPr>
                  <a:lnSpc>
                    <a:spcPct val="150000"/>
                  </a:lnSpc>
                  <a:spcAft>
                    <a:spcPts val="1000"/>
                  </a:spcAft>
                </a:pPr>
                <a:r>
                  <a:rPr lang="en-GB" sz="1600" dirty="0">
                    <a:solidFill>
                      <a:schemeClr val="bg1">
                        <a:lumMod val="50000"/>
                      </a:schemeClr>
                    </a:solidFill>
                    <a:latin typeface="Nexa Light" panose="02000000000000000000" pitchFamily="50" charset="0"/>
                  </a:rPr>
                  <a:t>where,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b="0" i="0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GB" sz="1600" b="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600" b="0" i="1" dirty="0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GB" sz="1600" b="0" i="1" dirty="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GB" sz="1600" b="0" i="0" dirty="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μ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sz="1600" b="0" i="0" dirty="0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en-GB" sz="1600" b="0" i="0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GB" sz="1600" b="0" i="0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</m:d>
                  </m:oMath>
                </a14:m>
                <a:r>
                  <a:rPr lang="en-GB" sz="1600" dirty="0">
                    <a:solidFill>
                      <a:schemeClr val="bg1">
                        <a:lumMod val="50000"/>
                      </a:schemeClr>
                    </a:solidFill>
                    <a:latin typeface="Nexa Light" panose="02000000000000000000" pitchFamily="50" charset="0"/>
                  </a:rPr>
                  <a:t> is the linear observation model,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GB" sz="1600" dirty="0">
                    <a:solidFill>
                      <a:schemeClr val="bg1">
                        <a:lumMod val="50000"/>
                      </a:schemeClr>
                    </a:solidFill>
                    <a:latin typeface="Nexa Light" panose="02000000000000000000" pitchFamily="50" charset="0"/>
                  </a:rPr>
                  <a:t> is the map, in this case the position of the landmark in 1D space,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i="0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600" i="0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GB" sz="1600" i="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~</m:t>
                    </m:r>
                    <m:r>
                      <a:rPr lang="en-GB" sz="1600" i="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GB" sz="1600" i="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(0,</m:t>
                    </m:r>
                    <m:sSub>
                      <m:sSubPr>
                        <m:ctrlPr>
                          <a:rPr lang="en-GB" sz="160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i="0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600" i="0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GB" sz="1600" i="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), </m:t>
                    </m:r>
                    <m:sSub>
                      <m:sSubPr>
                        <m:ctrlPr>
                          <a:rPr lang="en-GB" sz="1600" i="1" dirty="0" err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i="0" dirty="0" err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600" i="0" dirty="0" err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GB" sz="1600" i="0" dirty="0" err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GB" sz="160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GB" sz="1600" i="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(0,</m:t>
                    </m:r>
                    <m:sSub>
                      <m:sSubPr>
                        <m:ctrlPr>
                          <a:rPr lang="en-GB" sz="160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i="0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600" i="0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GB" sz="1600" i="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sz="160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GB" sz="1600" dirty="0">
                    <a:solidFill>
                      <a:schemeClr val="bg1">
                        <a:lumMod val="50000"/>
                      </a:schemeClr>
                    </a:solidFill>
                    <a:latin typeface="Nexa Light" panose="02000000000000000000" pitchFamily="50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600" i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GB" sz="1600" i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GB" sz="1600" i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GB" sz="160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GB" sz="1600" i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16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600" i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GB" sz="1600" i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GB" sz="1600" i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6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600" i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GB" sz="1600" i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GB" sz="1600" i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600" dirty="0">
                    <a:solidFill>
                      <a:schemeClr val="bg1">
                        <a:lumMod val="50000"/>
                      </a:schemeClr>
                    </a:solidFill>
                    <a:latin typeface="Nexa Light" panose="02000000000000000000" pitchFamily="50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4C28E0C-C9D2-8FD0-5595-B7D136D46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30" y="1628637"/>
                <a:ext cx="5783469" cy="4437497"/>
              </a:xfrm>
              <a:prstGeom prst="rect">
                <a:avLst/>
              </a:prstGeom>
              <a:blipFill>
                <a:blip r:embed="rId2"/>
                <a:stretch>
                  <a:fillRect l="-527" b="-9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" name="Picture 70">
            <a:extLst>
              <a:ext uri="{FF2B5EF4-FFF2-40B4-BE49-F238E27FC236}">
                <a16:creationId xmlns:a16="http://schemas.microsoft.com/office/drawing/2014/main" id="{415EAD73-E889-DFFF-6668-0762633D2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204" y="3083493"/>
            <a:ext cx="5861043" cy="137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44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DDA96D7-77C1-8B39-46C1-B4496D62ACE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spcAft>
                    <a:spcPts val="1000"/>
                  </a:spcAft>
                </a:pPr>
                <a:r>
                  <a:rPr lang="en-GB" sz="1600" dirty="0">
                    <a:solidFill>
                      <a:schemeClr val="bg1">
                        <a:lumMod val="50000"/>
                      </a:schemeClr>
                    </a:solidFill>
                    <a:latin typeface="Nexa Light" panose="02000000000000000000" pitchFamily="50" charset="0"/>
                  </a:rPr>
                  <a:t>For the following 1D robot, let the linear estimation model to be given by</a:t>
                </a:r>
              </a:p>
              <a:p>
                <a:pPr marL="0" indent="0">
                  <a:lnSpc>
                    <a:spcPct val="150000"/>
                  </a:lnSpc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b="0" i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16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A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  <m: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sz="16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GB" sz="16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B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GB" sz="1600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sz="1600" dirty="0">
                    <a:solidFill>
                      <a:schemeClr val="bg1">
                        <a:lumMod val="50000"/>
                      </a:schemeClr>
                    </a:solidFill>
                    <a:latin typeface="Nexa Light" panose="02000000000000000000" pitchFamily="50" charset="0"/>
                  </a:rPr>
                  <a:t>For this case let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6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A</m:t>
                      </m:r>
                      <m:r>
                        <a:rPr lang="en-GB" sz="16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GB" sz="1600" b="0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6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B</m:t>
                      </m:r>
                      <m:r>
                        <a:rPr lang="en-GB" sz="16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GB" sz="1600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600" dirty="0">
                    <a:solidFill>
                      <a:schemeClr val="bg1">
                        <a:lumMod val="50000"/>
                      </a:schemeClr>
                    </a:solidFill>
                    <a:latin typeface="Nexa Light" panose="02000000000000000000" pitchFamily="50" charset="0"/>
                  </a:rPr>
                  <a:t>and the initial conditions to be:</a:t>
                </a:r>
                <a:endParaRPr lang="en-GB" sz="1600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b="0" i="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μ</m:t>
                        </m:r>
                      </m:e>
                      <m:sub>
                        <m:r>
                          <a:rPr lang="en-GB" sz="1600" i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6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GB" sz="1600" dirty="0">
                    <a:effectLst/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robot initial position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600" dirty="0">
                    <a:effectLst/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b="0" i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Σ</m:t>
                        </m:r>
                      </m:e>
                      <m:sub>
                        <m:r>
                          <a:rPr lang="en-GB" sz="1600" b="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6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GB" sz="1600" dirty="0">
                    <a:effectLst/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initial </a:t>
                </a:r>
                <a:r>
                  <a:rPr lang="en-GB" sz="1600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prediction </a:t>
                </a:r>
                <a:r>
                  <a:rPr lang="en-GB" sz="1600" dirty="0">
                    <a:effectLst/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variance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DDA96D7-77C1-8B39-46C1-B4496D62AC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706" r="-9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969BEF6C-4FDD-A05B-05E0-8104C5F4A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Statement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A2BEBD6-A859-72BA-E004-B25B52F2E3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135582" y="3200400"/>
            <a:ext cx="7031218" cy="165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696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DDA96D7-77C1-8B39-46C1-B4496D62ACE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spcAft>
                    <a:spcPts val="1000"/>
                  </a:spcAft>
                </a:pPr>
                <a:r>
                  <a:rPr lang="en-GB" sz="1600" dirty="0">
                    <a:solidFill>
                      <a:schemeClr val="bg1">
                        <a:lumMod val="50000"/>
                      </a:schemeClr>
                    </a:solidFill>
                    <a:latin typeface="Nexa Light" panose="02000000000000000000" pitchFamily="50" charset="0"/>
                  </a:rPr>
                  <a:t>The observation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sz="16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GB" sz="1600" b="0" i="0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GB" sz="1600" b="0" i="0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GB" sz="1600" b="0" i="0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1600" b="0" i="0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GB" sz="1600" b="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600" b="0" i="1" dirty="0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GB" sz="1600" b="0" i="1" dirty="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GB" sz="1600" b="0" i="0" dirty="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μ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sz="1600" b="0" i="0" dirty="0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en-GB" sz="1600" b="0" i="0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GB" sz="1600" b="0" i="0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</m:d>
                  </m:oMath>
                </a14:m>
                <a:r>
                  <a:rPr lang="en-GB" sz="1600" dirty="0">
                    <a:solidFill>
                      <a:schemeClr val="bg1">
                        <a:lumMod val="50000"/>
                      </a:schemeClr>
                    </a:solidFill>
                    <a:latin typeface="Nexa Light" panose="02000000000000000000" pitchFamily="50" charset="0"/>
                  </a:rPr>
                  <a:t>, can be given by:</a:t>
                </a:r>
              </a:p>
              <a:p>
                <a:pPr marL="0" indent="0">
                  <a:lnSpc>
                    <a:spcPct val="150000"/>
                  </a:lnSpc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i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 i="0" dirty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16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m</m:t>
                      </m:r>
                      <m:r>
                        <a:rPr lang="en-GB" sz="16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b="0" i="0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GB" sz="1600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1000"/>
                  </a:spcAft>
                </a:pPr>
                <a:r>
                  <a:rPr lang="en-GB" sz="1600" dirty="0">
                    <a:solidFill>
                      <a:schemeClr val="bg1">
                        <a:lumMod val="50000"/>
                      </a:schemeClr>
                    </a:solidFill>
                    <a:latin typeface="Nexa Light" panose="02000000000000000000" pitchFamily="50" charset="0"/>
                  </a:rPr>
                  <a:t>The observation model is given by</a:t>
                </a:r>
              </a:p>
              <a:p>
                <a:pPr marL="0" indent="0">
                  <a:lnSpc>
                    <a:spcPct val="150000"/>
                  </a:lnSpc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GB" sz="1600" dirty="0">
                  <a:solidFill>
                    <a:schemeClr val="bg1">
                      <a:lumMod val="50000"/>
                    </a:schemeClr>
                  </a:solidFill>
                  <a:latin typeface="Nexa Light" panose="02000000000000000000" pitchFamily="50" charset="0"/>
                </a:endParaRPr>
              </a:p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GB" sz="1600" dirty="0">
                    <a:solidFill>
                      <a:schemeClr val="bg1">
                        <a:lumMod val="50000"/>
                      </a:schemeClr>
                    </a:solidFill>
                    <a:latin typeface="Nexa Light" panose="02000000000000000000" pitchFamily="50" charset="0"/>
                  </a:rPr>
                  <a:t>For this example: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6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m</m:t>
                      </m:r>
                      <m:r>
                        <a:rPr lang="en-GB" sz="16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=6</m:t>
                      </m:r>
                      <m:r>
                        <m:rPr>
                          <m:nor/>
                        </m:rPr>
                        <a:rPr lang="en-GB" sz="1600" dirty="0">
                          <a:latin typeface="Nexa Light" panose="02000000000000000000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1600" dirty="0">
                          <a:latin typeface="Nexa Light" panose="02000000000000000000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landmark</m:t>
                      </m:r>
                      <m:r>
                        <m:rPr>
                          <m:nor/>
                        </m:rPr>
                        <a:rPr lang="en-GB" sz="1600" dirty="0">
                          <a:latin typeface="Nexa Light" panose="02000000000000000000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1600" dirty="0">
                          <a:latin typeface="Nexa Light" panose="02000000000000000000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position</m:t>
                      </m:r>
                    </m:oMath>
                  </m:oMathPara>
                </a14:m>
                <a:endParaRPr lang="en-GB" sz="1600" dirty="0">
                  <a:effectLst/>
                  <a:latin typeface="Nexa Light" panose="02000000000000000000" pitchFamily="50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DDA96D7-77C1-8B39-46C1-B4496D62AC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969BEF6C-4FDD-A05B-05E0-8104C5F4A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Statement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A2BEBD6-A859-72BA-E004-B25B52F2E3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135582" y="3200400"/>
            <a:ext cx="7031218" cy="165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676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DDA96D7-77C1-8B39-46C1-B4496D62ACE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91352" y="1851933"/>
                <a:ext cx="5181600" cy="4351338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70000"/>
                  </a:lnSpc>
                  <a:spcBef>
                    <a:spcPts val="600"/>
                  </a:spcBef>
                </a:pPr>
                <a:r>
                  <a:rPr lang="en-GB" sz="1600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Assume the following conditions remain constant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∀</m:t>
                    </m:r>
                    <m:r>
                      <m:rPr>
                        <m:sty m:val="p"/>
                      </m:rPr>
                      <a:rPr lang="en-GB" sz="1600" i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k</m:t>
                    </m:r>
                  </m:oMath>
                </a14:m>
                <a:endParaRPr lang="en-GB" sz="1600" dirty="0">
                  <a:latin typeface="Nexa Light" panose="02000000000000000000" pitchFamily="50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17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i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600" i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k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60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0.1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GB" sz="1600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motion variance.</a:t>
                </a:r>
              </a:p>
              <a:p>
                <a:pPr lvl="1" algn="just">
                  <a:lnSpc>
                    <a:spcPct val="17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600" i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k</m:t>
                        </m:r>
                      </m:sub>
                    </m:sSub>
                    <m:r>
                      <a:rPr lang="en-GB" sz="1600" i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60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0.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8</m:t>
                    </m:r>
                  </m:oMath>
                </a14:m>
                <a:r>
                  <a:rPr lang="en-GB" sz="1600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observation model variance</a:t>
                </a:r>
              </a:p>
              <a:p>
                <a:pPr lvl="1" algn="just">
                  <a:lnSpc>
                    <a:spcPct val="17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600" i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k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</m:t>
                    </m:r>
                    <m:r>
                      <a:rPr lang="en-GB" sz="160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GB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GB" sz="1600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mobile robot linear velocity</a:t>
                </a:r>
              </a:p>
              <a:p>
                <a:pPr lvl="1" algn="just">
                  <a:lnSpc>
                    <a:spcPct val="170000"/>
                  </a:lnSpc>
                  <a:spcBef>
                    <a:spcPts val="600"/>
                  </a:spcBef>
                </a:pPr>
                <a:r>
                  <a:rPr lang="en-GB" sz="1600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Δt</m:t>
                    </m:r>
                    <m:r>
                      <a:rPr lang="en-GB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</m:t>
                    </m:r>
                    <m:r>
                      <a:rPr lang="en-GB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GB" sz="1600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sampling time</a:t>
                </a:r>
              </a:p>
              <a:p>
                <a:pPr marL="457200" lvl="1" indent="0">
                  <a:lnSpc>
                    <a:spcPct val="170000"/>
                  </a:lnSpc>
                  <a:spcBef>
                    <a:spcPts val="600"/>
                  </a:spcBef>
                  <a:buNone/>
                </a:pPr>
                <a:endParaRPr lang="en-GB" sz="1600" dirty="0">
                  <a:latin typeface="Nexa Light" panose="02000000000000000000" pitchFamily="50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70000"/>
                  </a:lnSpc>
                  <a:spcBef>
                    <a:spcPts val="600"/>
                  </a:spcBef>
                  <a:buNone/>
                </a:pPr>
                <a:r>
                  <a:rPr lang="en-GB" sz="1600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For this case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GB" sz="16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&gt;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n-GB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sz="1600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!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DDA96D7-77C1-8B39-46C1-B4496D62AC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91352" y="1851933"/>
                <a:ext cx="5181600" cy="4351338"/>
              </a:xfrm>
              <a:blipFill>
                <a:blip r:embed="rId2"/>
                <a:stretch>
                  <a:fillRect l="-706" r="-5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969BEF6C-4FDD-A05B-05E0-8104C5F4A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Statement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A2BEBD6-A859-72BA-E004-B25B52F2E3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135582" y="3200400"/>
            <a:ext cx="7031218" cy="165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90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F7E08D9-A671-052A-A81A-B1DDD2F3DBB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604682"/>
                <a:ext cx="5181600" cy="5033861"/>
              </a:xfrm>
            </p:spPr>
            <p:txBody>
              <a:bodyPr>
                <a:normAutofit fontScale="25000" lnSpcReduction="20000"/>
              </a:bodyPr>
              <a:lstStyle/>
              <a:p>
                <a:pPr marL="0" indent="0">
                  <a:lnSpc>
                    <a:spcPct val="170000"/>
                  </a:lnSpc>
                  <a:spcAft>
                    <a:spcPts val="1200"/>
                  </a:spcAft>
                  <a:buNone/>
                </a:pPr>
                <a:r>
                  <a:rPr lang="en-GB" sz="6400" dirty="0"/>
                  <a:t>The Kalman Filter with known data association is given by:</a:t>
                </a:r>
              </a:p>
              <a:p>
                <a:pPr>
                  <a:spcAft>
                    <a:spcPts val="600"/>
                  </a:spcAft>
                </a:pPr>
                <a:r>
                  <a:rPr lang="en-GB" sz="6400" b="1" dirty="0">
                    <a:solidFill>
                      <a:schemeClr val="bg2">
                        <a:lumMod val="50000"/>
                      </a:schemeClr>
                    </a:solidFill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Prediction step:</a:t>
                </a:r>
              </a:p>
              <a:p>
                <a:pPr marL="600075" indent="0">
                  <a:lnSpc>
                    <a:spcPct val="150000"/>
                  </a:lnSpc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6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6400" b="0" i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64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64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sz="64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GB" sz="64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6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6400" b="0" i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64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64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GB" sz="64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GB" sz="6400" dirty="0">
                  <a:solidFill>
                    <a:schemeClr val="bg2">
                      <a:lumMod val="50000"/>
                    </a:schemeClr>
                  </a:solidFill>
                  <a:latin typeface="Nexa Light" panose="02000000000000000000" pitchFamily="50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GB" sz="6400" b="1" dirty="0">
                    <a:solidFill>
                      <a:schemeClr val="bg2">
                        <a:lumMod val="50000"/>
                      </a:schemeClr>
                    </a:solidFill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Correction step:</a:t>
                </a:r>
              </a:p>
              <a:p>
                <a:pPr marL="600075" indent="0" algn="ctr">
                  <a:lnSpc>
                    <a:spcPct val="150000"/>
                  </a:lnSpc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6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6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6400" b="0" i="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6400" i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64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64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g</m:t>
                      </m:r>
                      <m:r>
                        <a:rPr lang="en-GB" sz="64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6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6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6400" b="0" i="0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64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GB" sz="64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m</m:t>
                      </m:r>
                      <m:r>
                        <a:rPr lang="en-GB" sz="64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64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64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C</m:t>
                      </m:r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6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6400" b="0" i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sSup>
                        <m:sSupPr>
                          <m:ctrlPr>
                            <a:rPr lang="en-GB" sz="6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GB" sz="6400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GB" sz="6400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r>
                        <a:rPr lang="en-GB" sz="64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64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6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6400" b="0" i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sSup>
                        <m:sSupPr>
                          <m:ctrlPr>
                            <a:rPr lang="en-GB" sz="6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GB" sz="6400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GB" sz="6400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sSubSup>
                        <m:sSubSup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  <m:sup>
                          <m: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bSup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64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6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6400" b="0" i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64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d>
                        <m:dPr>
                          <m:ctrlPr>
                            <a:rPr lang="en-GB" sz="6400" b="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6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6400" b="0" i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6400" b="0" i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6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sz="6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6400" b="0" i="0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6400" i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64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</m:t>
                      </m:r>
                      <m:r>
                        <m:rPr>
                          <m:sty m:val="p"/>
                        </m:rPr>
                        <a:rPr lang="en-GB" sz="64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I</m:t>
                      </m:r>
                      <m:r>
                        <a:rPr lang="en-GB" sz="64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GB" sz="64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C</m:t>
                      </m:r>
                      <m:r>
                        <a:rPr lang="en-GB" sz="64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 </m:t>
                      </m:r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6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6400" b="0" i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F7E08D9-A671-052A-A81A-B1DDD2F3DB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604682"/>
                <a:ext cx="5181600" cy="5033861"/>
              </a:xfrm>
              <a:blipFill>
                <a:blip r:embed="rId2"/>
                <a:stretch>
                  <a:fillRect l="-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C1803861-B7AB-DDE3-3D12-CCE272803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Statement</a:t>
            </a:r>
          </a:p>
        </p:txBody>
      </p:sp>
      <p:pic>
        <p:nvPicPr>
          <p:cNvPr id="5" name="Content Placeholder 8">
            <a:extLst>
              <a:ext uri="{FF2B5EF4-FFF2-40B4-BE49-F238E27FC236}">
                <a16:creationId xmlns:a16="http://schemas.microsoft.com/office/drawing/2014/main" id="{D8F9AAF6-003D-A78F-AA97-A6F8D2DF3A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759594" y="3082565"/>
            <a:ext cx="6295079" cy="148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20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F7E08D9-A671-052A-A81A-B1DDD2F3DBB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515035"/>
                <a:ext cx="6144904" cy="5033861"/>
              </a:xfrm>
            </p:spPr>
            <p:txBody>
              <a:bodyPr>
                <a:normAutofit fontScale="25000" lnSpcReduction="20000"/>
              </a:bodyPr>
              <a:lstStyle/>
              <a:p>
                <a:pPr marL="0" indent="0">
                  <a:lnSpc>
                    <a:spcPct val="170000"/>
                  </a:lnSpc>
                  <a:spcAft>
                    <a:spcPts val="1200"/>
                  </a:spcAft>
                  <a:buNone/>
                </a:pPr>
                <a:r>
                  <a:rPr lang="en-GB" sz="6400" dirty="0"/>
                  <a:t>Considering the previous given model characteristics,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64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sz="6400" b="0" i="0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m:rPr>
                        <m:sty m:val="p"/>
                      </m:rPr>
                      <a:rPr lang="en-GB" sz="64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GB" sz="6400" b="0" i="0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GB" sz="64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GB" sz="6400" dirty="0"/>
                  <a:t>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6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GB" sz="6400" b="0" i="0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acc>
                    <m:r>
                      <a:rPr lang="en-GB" sz="6400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6400" b="0" i="0" dirty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GB" sz="6400" b="0" i="0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6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6400" b="0" i="0" dirty="0" smtClean="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6400" b="0" i="0" dirty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GB" sz="6400" dirty="0"/>
                  <a:t>, the KF becomes:</a:t>
                </a:r>
              </a:p>
              <a:p>
                <a:pPr>
                  <a:spcAft>
                    <a:spcPts val="600"/>
                  </a:spcAft>
                </a:pPr>
                <a:r>
                  <a:rPr lang="en-GB" sz="6400" b="1" dirty="0">
                    <a:solidFill>
                      <a:schemeClr val="bg2">
                        <a:lumMod val="50000"/>
                      </a:schemeClr>
                    </a:solidFill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Prediction step:</a:t>
                </a:r>
              </a:p>
              <a:p>
                <a:pPr marL="600075" indent="0">
                  <a:lnSpc>
                    <a:spcPct val="150000"/>
                  </a:lnSpc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6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6400" b="0" i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64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sz="64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6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6400" b="0" i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64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64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GB" sz="64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GB" sz="64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GB" sz="64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GB" sz="6400" dirty="0">
                  <a:solidFill>
                    <a:schemeClr val="bg2">
                      <a:lumMod val="50000"/>
                    </a:schemeClr>
                  </a:solidFill>
                  <a:latin typeface="Nexa Light" panose="02000000000000000000" pitchFamily="50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GB" sz="6400" b="1" dirty="0">
                    <a:solidFill>
                      <a:schemeClr val="bg2">
                        <a:lumMod val="50000"/>
                      </a:schemeClr>
                    </a:solidFill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Correction step:</a:t>
                </a:r>
              </a:p>
              <a:p>
                <a:pPr marL="600075" indent="0" algn="ctr">
                  <a:lnSpc>
                    <a:spcPct val="150000"/>
                  </a:lnSpc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6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6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6400" b="0" i="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6400" i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64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64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m</m:t>
                      </m:r>
                      <m:r>
                        <a:rPr lang="en-GB" sz="64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6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6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6400" b="0" i="0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6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6400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64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64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GB" sz="6400" b="0" i="1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6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6400" b="0" i="0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GB" sz="6400" b="0" i="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C</m:t>
                      </m:r>
                      <m:r>
                        <a:rPr lang="en-GB" sz="6400" b="0" i="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6400" b="0" i="1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6400" b="0" i="0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64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6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sz="6400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6400" b="0" i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6400" b="0" i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GB" sz="6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num>
                        <m:den>
                          <m:sSub>
                            <m:sSubPr>
                              <m:ctrlPr>
                                <a:rPr lang="en-GB" sz="64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64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64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64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6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6400" b="0" i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64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d>
                        <m:dPr>
                          <m:ctrlPr>
                            <a:rPr lang="en-GB" sz="6400" b="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6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6400" b="0" i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6400" b="0" i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6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sz="6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6400" b="0" i="0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6400" i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64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</m:t>
                      </m:r>
                      <m:r>
                        <a:rPr lang="en-GB" sz="64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GB" sz="64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GB" sz="64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C</m:t>
                      </m:r>
                      <m:r>
                        <a:rPr lang="en-GB" sz="64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 </m:t>
                      </m:r>
                      <m:sSub>
                        <m:sSubPr>
                          <m:ctrlPr>
                            <a:rPr lang="en-GB" sz="6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6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6400" b="0" i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64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F7E08D9-A671-052A-A81A-B1DDD2F3DB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515035"/>
                <a:ext cx="6144904" cy="5033861"/>
              </a:xfrm>
              <a:blipFill>
                <a:blip r:embed="rId2"/>
                <a:stretch>
                  <a:fillRect l="-595" r="-3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C1803861-B7AB-DDE3-3D12-CCE272803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Statement</a:t>
            </a:r>
          </a:p>
        </p:txBody>
      </p:sp>
      <p:pic>
        <p:nvPicPr>
          <p:cNvPr id="5" name="Content Placeholder 8">
            <a:extLst>
              <a:ext uri="{FF2B5EF4-FFF2-40B4-BE49-F238E27FC236}">
                <a16:creationId xmlns:a16="http://schemas.microsoft.com/office/drawing/2014/main" id="{D8F9AAF6-003D-A78F-AA97-A6F8D2DF3A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759594" y="3082565"/>
            <a:ext cx="6295079" cy="148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555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F7E08D9-A671-052A-A81A-B1DDD2F3DBB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604682"/>
                <a:ext cx="5181600" cy="189155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70000"/>
                  </a:lnSpc>
                  <a:spcAft>
                    <a:spcPts val="1200"/>
                  </a:spcAft>
                  <a:buNone/>
                </a:pPr>
                <a:r>
                  <a:rPr lang="en-GB" sz="1600" dirty="0"/>
                  <a:t>For the first iteration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i="0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1600" dirty="0"/>
                  <a:t>:</a:t>
                </a:r>
              </a:p>
              <a:p>
                <a:pPr>
                  <a:spcAft>
                    <a:spcPts val="600"/>
                  </a:spcAft>
                </a:pPr>
                <a:r>
                  <a:rPr lang="en-GB" sz="1600" b="1" dirty="0">
                    <a:solidFill>
                      <a:schemeClr val="bg2">
                        <a:lumMod val="50000"/>
                      </a:schemeClr>
                    </a:solidFill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Prediction step:</a:t>
                </a:r>
              </a:p>
              <a:p>
                <a:pPr marL="600075" indent="0">
                  <a:lnSpc>
                    <a:spcPct val="150000"/>
                  </a:lnSpc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b="0" i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sz="16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b="0" i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sz="16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GB" sz="1600" dirty="0">
                  <a:solidFill>
                    <a:schemeClr val="bg2">
                      <a:lumMod val="50000"/>
                    </a:schemeClr>
                  </a:solidFill>
                  <a:latin typeface="Nexa Light" panose="02000000000000000000" pitchFamily="50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Aft>
                    <a:spcPts val="600"/>
                  </a:spcAft>
                  <a:buNone/>
                </a:pPr>
                <a:endParaRPr lang="en-GB" sz="1600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GB" sz="16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F7E08D9-A671-052A-A81A-B1DDD2F3DB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604682"/>
                <a:ext cx="5181600" cy="1891553"/>
              </a:xfrm>
              <a:blipFill>
                <a:blip r:embed="rId2"/>
                <a:stretch>
                  <a:fillRect l="-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ontent Placeholder 1">
                <a:extLst>
                  <a:ext uri="{FF2B5EF4-FFF2-40B4-BE49-F238E27FC236}">
                    <a16:creationId xmlns:a16="http://schemas.microsoft.com/office/drawing/2014/main" id="{5BBADE1E-3E0C-A4EB-D12F-758C2EFF1C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1794" y="3371385"/>
                <a:ext cx="5181600" cy="29205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70000"/>
                  </a:lnSpc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Correction step:</a:t>
                </a:r>
              </a:p>
              <a:p>
                <a:pPr marL="600075" indent="0" algn="ctr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160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m</m:t>
                      </m:r>
                      <m:r>
                        <a:rPr lang="en-GB" sz="160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b="0" i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GB" sz="1600" b="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en-GB" sz="1600" b="0" i="0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GB" sz="1600" b="0" i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b="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b="0" i="0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GB" sz="1600" b="0" i="0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GB" sz="16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num>
                        <m:den>
                          <m:sSub>
                            <m:sSub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GB" sz="16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d>
                        <m:d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sz="16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</m:t>
                      </m:r>
                      <m:r>
                        <a:rPr lang="en-GB" sz="16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 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GB" sz="16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Content Placeholder 1">
                <a:extLst>
                  <a:ext uri="{FF2B5EF4-FFF2-40B4-BE49-F238E27FC236}">
                    <a16:creationId xmlns:a16="http://schemas.microsoft.com/office/drawing/2014/main" id="{5BBADE1E-3E0C-A4EB-D12F-758C2EFF1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94" y="3371385"/>
                <a:ext cx="5181600" cy="2920532"/>
              </a:xfrm>
              <a:prstGeom prst="rect">
                <a:avLst/>
              </a:prstGeom>
              <a:blipFill>
                <a:blip r:embed="rId3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ontent Placeholder 1">
                <a:extLst>
                  <a:ext uri="{FF2B5EF4-FFF2-40B4-BE49-F238E27FC236}">
                    <a16:creationId xmlns:a16="http://schemas.microsoft.com/office/drawing/2014/main" id="{B1550473-6525-35A0-B593-E38ACB820E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315" y="3370822"/>
                <a:ext cx="5181600" cy="29205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70000"/>
                  </a:lnSpc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Correction step:</a:t>
                </a:r>
              </a:p>
              <a:p>
                <a:pPr marL="600075" indent="0" algn="ctr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6</m:t>
                      </m:r>
                      <m:r>
                        <a:rPr lang="en-GB" sz="160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b="0" i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sz="1600" b="0" i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0.12 (−1)+0.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8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0.12 ∗(−1)</m:t>
                          </m:r>
                        </m:num>
                        <m:den>
                          <m: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0.12</m:t>
                          </m:r>
                          <m: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0.8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d>
                        <m:d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sz="16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</m:t>
                      </m:r>
                      <m:r>
                        <a:rPr lang="en-GB" sz="16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 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GB" sz="16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Content Placeholder 1">
                <a:extLst>
                  <a:ext uri="{FF2B5EF4-FFF2-40B4-BE49-F238E27FC236}">
                    <a16:creationId xmlns:a16="http://schemas.microsoft.com/office/drawing/2014/main" id="{B1550473-6525-35A0-B593-E38ACB820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15" y="3370822"/>
                <a:ext cx="5181600" cy="2920532"/>
              </a:xfrm>
              <a:prstGeom prst="rect">
                <a:avLst/>
              </a:prstGeom>
              <a:blipFill>
                <a:blip r:embed="rId4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ontent Placeholder 1">
                <a:extLst>
                  <a:ext uri="{FF2B5EF4-FFF2-40B4-BE49-F238E27FC236}">
                    <a16:creationId xmlns:a16="http://schemas.microsoft.com/office/drawing/2014/main" id="{F5BB3AE3-B434-D04D-4E40-1B7FCA9436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315" y="3370822"/>
                <a:ext cx="5181600" cy="29205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70000"/>
                  </a:lnSpc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Correction step:</a:t>
                </a:r>
              </a:p>
              <a:p>
                <a:pPr marL="600075" indent="0" algn="ctr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b="0" i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=0.92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160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.1304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d>
                        <m:d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sz="16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</m:t>
                      </m:r>
                      <m:r>
                        <a:rPr lang="en-GB" sz="16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 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GB" sz="16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" name="Content Placeholder 1">
                <a:extLst>
                  <a:ext uri="{FF2B5EF4-FFF2-40B4-BE49-F238E27FC236}">
                    <a16:creationId xmlns:a16="http://schemas.microsoft.com/office/drawing/2014/main" id="{F5BB3AE3-B434-D04D-4E40-1B7FCA943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15" y="3370822"/>
                <a:ext cx="5181600" cy="2920532"/>
              </a:xfrm>
              <a:prstGeom prst="rect">
                <a:avLst/>
              </a:prstGeom>
              <a:blipFill>
                <a:blip r:embed="rId5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ontent Placeholder 1">
                <a:extLst>
                  <a:ext uri="{FF2B5EF4-FFF2-40B4-BE49-F238E27FC236}">
                    <a16:creationId xmlns:a16="http://schemas.microsoft.com/office/drawing/2014/main" id="{9922F94A-F28D-19CD-1AF9-C4076AFA7E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315" y="3370822"/>
                <a:ext cx="5181600" cy="29205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70000"/>
                  </a:lnSpc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Correction step:</a:t>
                </a:r>
              </a:p>
              <a:p>
                <a:pPr marL="600075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=0.92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160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.1304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GB" sz="1600" b="0" i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sz="160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GB" sz="1600" b="0" i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</m:t>
                      </m:r>
                      <m:r>
                        <a:rPr lang="en-GB" sz="16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C</m:t>
                      </m:r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 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600" dirty="0">
                  <a:solidFill>
                    <a:schemeClr val="bg1">
                      <a:lumMod val="50000"/>
                    </a:schemeClr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Content Placeholder 1">
                <a:extLst>
                  <a:ext uri="{FF2B5EF4-FFF2-40B4-BE49-F238E27FC236}">
                    <a16:creationId xmlns:a16="http://schemas.microsoft.com/office/drawing/2014/main" id="{9922F94A-F28D-19CD-1AF9-C4076AFA7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15" y="3370822"/>
                <a:ext cx="5181600" cy="2920532"/>
              </a:xfrm>
              <a:prstGeom prst="rect">
                <a:avLst/>
              </a:prstGeom>
              <a:blipFill>
                <a:blip r:embed="rId6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ontent Placeholder 1">
                <a:extLst>
                  <a:ext uri="{FF2B5EF4-FFF2-40B4-BE49-F238E27FC236}">
                    <a16:creationId xmlns:a16="http://schemas.microsoft.com/office/drawing/2014/main" id="{CBDCDE83-C55B-7A9C-8D65-7CEF50148C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315" y="3370822"/>
                <a:ext cx="5181600" cy="29205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70000"/>
                  </a:lnSpc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Correction step:</a:t>
                </a:r>
              </a:p>
              <a:p>
                <a:pPr marL="600075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=0.92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160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.1304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+(−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0.1304)</m:t>
                      </m:r>
                      <m:d>
                        <m:d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2.2</m:t>
                          </m:r>
                          <m: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60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(−</m:t>
                          </m:r>
                          <m:r>
                            <a:rPr lang="en-GB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0.1304)(−1)</m:t>
                          </m:r>
                        </m:e>
                      </m:d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0.12</m:t>
                      </m:r>
                    </m:oMath>
                  </m:oMathPara>
                </a14:m>
                <a:endParaRPr lang="en-GB" sz="1600" dirty="0">
                  <a:solidFill>
                    <a:schemeClr val="bg1">
                      <a:lumMod val="50000"/>
                    </a:schemeClr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3" name="Content Placeholder 1">
                <a:extLst>
                  <a:ext uri="{FF2B5EF4-FFF2-40B4-BE49-F238E27FC236}">
                    <a16:creationId xmlns:a16="http://schemas.microsoft.com/office/drawing/2014/main" id="{CBDCDE83-C55B-7A9C-8D65-7CEF50148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15" y="3370822"/>
                <a:ext cx="5181600" cy="2920532"/>
              </a:xfrm>
              <a:prstGeom prst="rect">
                <a:avLst/>
              </a:prstGeom>
              <a:blipFill>
                <a:blip r:embed="rId7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ontent Placeholder 1">
                <a:extLst>
                  <a:ext uri="{FF2B5EF4-FFF2-40B4-BE49-F238E27FC236}">
                    <a16:creationId xmlns:a16="http://schemas.microsoft.com/office/drawing/2014/main" id="{12EA3C1C-F079-5D29-DFFB-10035D7535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315" y="3370822"/>
                <a:ext cx="5181600" cy="29205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70000"/>
                  </a:lnSpc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GB" sz="1600" b="1" dirty="0">
                    <a:solidFill>
                      <a:schemeClr val="bg1">
                        <a:lumMod val="50000"/>
                      </a:schemeClr>
                    </a:solidFill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Correction step:</a:t>
                </a:r>
              </a:p>
              <a:p>
                <a:pPr marL="600075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=0.92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160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.1304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3.104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=0.1043</m:t>
                      </m:r>
                    </m:oMath>
                  </m:oMathPara>
                </a14:m>
                <a:endParaRPr lang="en-GB" sz="16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2" name="Content Placeholder 1">
                <a:extLst>
                  <a:ext uri="{FF2B5EF4-FFF2-40B4-BE49-F238E27FC236}">
                    <a16:creationId xmlns:a16="http://schemas.microsoft.com/office/drawing/2014/main" id="{12EA3C1C-F079-5D29-DFFB-10035D753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15" y="3370822"/>
                <a:ext cx="5181600" cy="2920532"/>
              </a:xfrm>
              <a:prstGeom prst="rect">
                <a:avLst/>
              </a:prstGeom>
              <a:blipFill>
                <a:blip r:embed="rId8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C1803861-B7AB-DDE3-3D12-CCE272803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Solution: Iteration 1</a:t>
            </a:r>
          </a:p>
        </p:txBody>
      </p:sp>
      <p:pic>
        <p:nvPicPr>
          <p:cNvPr id="5" name="Content Placeholder 8">
            <a:extLst>
              <a:ext uri="{FF2B5EF4-FFF2-40B4-BE49-F238E27FC236}">
                <a16:creationId xmlns:a16="http://schemas.microsoft.com/office/drawing/2014/main" id="{D8F9AAF6-003D-A78F-AA97-A6F8D2DF3A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5759594" y="3082565"/>
            <a:ext cx="6295079" cy="14811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3E1EE7DC-A597-61DE-9F1A-48A68B4324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316" y="1605326"/>
                <a:ext cx="5181600" cy="18915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70000"/>
                  </a:lnSpc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:r>
                  <a:rPr lang="en-GB" sz="1600" dirty="0"/>
                  <a:t>For the first iteration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1600" dirty="0"/>
                  <a:t>:</a:t>
                </a:r>
              </a:p>
              <a:p>
                <a:pPr>
                  <a:spcAft>
                    <a:spcPts val="600"/>
                  </a:spcAft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Prediction step:</a:t>
                </a:r>
              </a:p>
              <a:p>
                <a:pPr marL="600075" indent="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smtClean="0"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600" dirty="0">
                  <a:latin typeface="Nexa Light" panose="02000000000000000000" pitchFamily="50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:endParaRPr lang="en-GB" sz="16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dirty="0"/>
              </a:p>
            </p:txBody>
          </p:sp>
        </mc:Choice>
        <mc:Fallback xmlns="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3E1EE7DC-A597-61DE-9F1A-48A68B432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16" y="1605326"/>
                <a:ext cx="5181600" cy="1891553"/>
              </a:xfrm>
              <a:prstGeom prst="rect">
                <a:avLst/>
              </a:prstGeom>
              <a:blipFill>
                <a:blip r:embed="rId11"/>
                <a:stretch>
                  <a:fillRect l="-5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205A300D-26CA-B1A2-DC17-69120686D8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316" y="1605326"/>
                <a:ext cx="5181600" cy="18915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70000"/>
                  </a:lnSpc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:r>
                  <a:rPr lang="en-GB" sz="1600" dirty="0"/>
                  <a:t>For the first iteration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1600" dirty="0"/>
                  <a:t>:</a:t>
                </a:r>
              </a:p>
              <a:p>
                <a:pPr>
                  <a:spcAft>
                    <a:spcPts val="600"/>
                  </a:spcAft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Prediction step:</a:t>
                </a:r>
              </a:p>
              <a:p>
                <a:pPr marL="600075" indent="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.12</m:t>
                      </m:r>
                    </m:oMath>
                  </m:oMathPara>
                </a14:m>
                <a:endParaRPr lang="en-GB" sz="1600" dirty="0">
                  <a:latin typeface="Nexa Light" panose="02000000000000000000" pitchFamily="50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:endParaRPr lang="en-GB" sz="16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dirty="0"/>
              </a:p>
            </p:txBody>
          </p:sp>
        </mc:Choice>
        <mc:Fallback xmlns="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205A300D-26CA-B1A2-DC17-69120686D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16" y="1605326"/>
                <a:ext cx="5181600" cy="1891553"/>
              </a:xfrm>
              <a:prstGeom prst="rect">
                <a:avLst/>
              </a:prstGeom>
              <a:blipFill>
                <a:blip r:embed="rId12"/>
                <a:stretch>
                  <a:fillRect l="-5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5E66AB9C-1171-9E60-9479-907414F562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316" y="1605326"/>
                <a:ext cx="5181600" cy="18915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70000"/>
                  </a:lnSpc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:r>
                  <a:rPr lang="en-GB" sz="1600" dirty="0"/>
                  <a:t>For the first iteration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1600" dirty="0"/>
                  <a:t>:</a:t>
                </a:r>
              </a:p>
              <a:p>
                <a:pPr>
                  <a:spcAft>
                    <a:spcPts val="600"/>
                  </a:spcAft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Prediction step:</a:t>
                </a:r>
              </a:p>
              <a:p>
                <a:pPr marL="600075" indent="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0.12</m:t>
                      </m:r>
                    </m:oMath>
                  </m:oMathPara>
                </a14:m>
                <a:endParaRPr lang="en-GB" sz="16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5E66AB9C-1171-9E60-9479-907414F56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16" y="1605326"/>
                <a:ext cx="5181600" cy="1891553"/>
              </a:xfrm>
              <a:prstGeom prst="rect">
                <a:avLst/>
              </a:prstGeom>
              <a:blipFill>
                <a:blip r:embed="rId13"/>
                <a:stretch>
                  <a:fillRect l="-5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FCE69EB4-BEF5-2396-6391-F06D8FF9876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5759594" y="3078792"/>
            <a:ext cx="6304691" cy="148041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995D8BEA-515E-82FE-BF35-3911480B9A5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5755322" y="2619163"/>
            <a:ext cx="6295079" cy="19433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8F2EC9A-D85B-B2AF-7733-18D237CA847E}"/>
                  </a:ext>
                </a:extLst>
              </p:cNvPr>
              <p:cNvSpPr txBox="1"/>
              <p:nvPr/>
            </p:nvSpPr>
            <p:spPr>
              <a:xfrm>
                <a:off x="5394084" y="1303328"/>
                <a:ext cx="2626658" cy="993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70000"/>
                  </a:lnSpc>
                  <a:spcBef>
                    <a:spcPts val="600"/>
                  </a:spcBef>
                </a:pPr>
                <a:r>
                  <a:rPr lang="en-GB" sz="1600" i="0" dirty="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</a:rPr>
                  <a:t>Measurement:</a:t>
                </a:r>
                <a:endParaRPr lang="en-GB" sz="1600" dirty="0">
                  <a:solidFill>
                    <a:schemeClr val="bg2">
                      <a:lumMod val="50000"/>
                    </a:schemeClr>
                  </a:solidFill>
                  <a:latin typeface="Nexa-Light" panose="01000000000000000000" pitchFamily="2" charset="0"/>
                </a:endParaRPr>
              </a:p>
              <a:p>
                <a:pPr algn="just">
                  <a:lnSpc>
                    <a:spcPct val="17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GB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2.2</m:t>
                    </m:r>
                  </m:oMath>
                </a14:m>
                <a:r>
                  <a:rPr lang="en-GB" dirty="0">
                    <a:solidFill>
                      <a:schemeClr val="bg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endParaRPr lang="en-GB" sz="2300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8F2EC9A-D85B-B2AF-7733-18D237CA8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084" y="1303328"/>
                <a:ext cx="2626658" cy="993542"/>
              </a:xfrm>
              <a:prstGeom prst="rect">
                <a:avLst/>
              </a:prstGeom>
              <a:blipFill>
                <a:blip r:embed="rId18"/>
                <a:stretch>
                  <a:fillRect l="-13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8" name="Picture 117">
            <a:extLst>
              <a:ext uri="{FF2B5EF4-FFF2-40B4-BE49-F238E27FC236}">
                <a16:creationId xmlns:a16="http://schemas.microsoft.com/office/drawing/2014/main" id="{DA0DCFAE-D894-BBB3-E4CA-CCF050CF945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55321" y="2628891"/>
            <a:ext cx="6295080" cy="1947375"/>
          </a:xfrm>
          <a:prstGeom prst="rect">
            <a:avLst/>
          </a:pr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49781C1C-EC90-2D4D-9A46-6B436A59818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5745709" y="2627930"/>
            <a:ext cx="6304692" cy="1946276"/>
          </a:xfrm>
          <a:prstGeom prst="rect">
            <a:avLst/>
          </a:prstGeom>
        </p:spPr>
      </p:pic>
      <p:pic>
        <p:nvPicPr>
          <p:cNvPr id="227" name="Picture 226">
            <a:extLst>
              <a:ext uri="{FF2B5EF4-FFF2-40B4-BE49-F238E27FC236}">
                <a16:creationId xmlns:a16="http://schemas.microsoft.com/office/drawing/2014/main" id="{E833D777-6D56-0F06-1436-6AADFE94EF5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62263" y="2594893"/>
            <a:ext cx="6295080" cy="194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557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 build="p"/>
      <p:bldP spid="47" grpId="0"/>
      <p:bldP spid="47" grpId="1"/>
      <p:bldP spid="49" grpId="0"/>
      <p:bldP spid="49" grpId="1"/>
      <p:bldP spid="50" grpId="0"/>
      <p:bldP spid="50" grpId="1"/>
      <p:bldP spid="51" grpId="0"/>
      <p:bldP spid="51" grpId="1"/>
      <p:bldP spid="53" grpId="0"/>
      <p:bldP spid="53" grpId="1"/>
      <p:bldP spid="52" grpId="0"/>
      <p:bldP spid="6" grpId="0"/>
      <p:bldP spid="6" grpId="1"/>
      <p:bldP spid="8" grpId="0"/>
      <p:bldP spid="8" grpId="1"/>
      <p:bldP spid="10" grpId="0"/>
      <p:bldP spid="5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ontent Placeholder 1">
                <a:extLst>
                  <a:ext uri="{FF2B5EF4-FFF2-40B4-BE49-F238E27FC236}">
                    <a16:creationId xmlns:a16="http://schemas.microsoft.com/office/drawing/2014/main" id="{5BBADE1E-3E0C-A4EB-D12F-758C2EFF1C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5163" y="3358344"/>
                <a:ext cx="5181600" cy="29205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70000"/>
                  </a:lnSpc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Correction step:</a:t>
                </a:r>
              </a:p>
              <a:p>
                <a:pPr marL="600075" indent="0" algn="ctr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160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m</m:t>
                      </m:r>
                      <m:r>
                        <a:rPr lang="en-GB" sz="160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b="0" i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GB" sz="1600" b="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en-GB" sz="1600" b="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GB" sz="1600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b="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600" b="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600" b="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GB" sz="16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num>
                        <m:den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GB" sz="16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GB" sz="16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d>
                        <m:d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sz="16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</m:t>
                      </m:r>
                      <m:r>
                        <a:rPr lang="en-GB" sz="16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 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GB" sz="16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Content Placeholder 1">
                <a:extLst>
                  <a:ext uri="{FF2B5EF4-FFF2-40B4-BE49-F238E27FC236}">
                    <a16:creationId xmlns:a16="http://schemas.microsoft.com/office/drawing/2014/main" id="{5BBADE1E-3E0C-A4EB-D12F-758C2EFF1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163" y="3358344"/>
                <a:ext cx="5181600" cy="2920532"/>
              </a:xfrm>
              <a:prstGeom prst="rect">
                <a:avLst/>
              </a:prstGeom>
              <a:blipFill>
                <a:blip r:embed="rId2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3E1EE7DC-A597-61DE-9F1A-48A68B4324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4606" y="1604682"/>
                <a:ext cx="5181600" cy="18915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70000"/>
                  </a:lnSpc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:r>
                  <a:rPr lang="en-GB" sz="1600" dirty="0"/>
                  <a:t>For the first iteration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600" dirty="0"/>
                  <a:t>:</a:t>
                </a:r>
              </a:p>
              <a:p>
                <a:pPr>
                  <a:spcAft>
                    <a:spcPts val="600"/>
                  </a:spcAft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Prediction step:</a:t>
                </a:r>
              </a:p>
              <a:p>
                <a:pPr marL="600075" indent="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smtClean="0"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600" dirty="0">
                  <a:latin typeface="Nexa Light" panose="02000000000000000000" pitchFamily="50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:endParaRPr lang="en-GB" sz="16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dirty="0"/>
              </a:p>
            </p:txBody>
          </p:sp>
        </mc:Choice>
        <mc:Fallback xmlns="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3E1EE7DC-A597-61DE-9F1A-48A68B432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06" y="1604682"/>
                <a:ext cx="5181600" cy="1891553"/>
              </a:xfrm>
              <a:prstGeom prst="rect">
                <a:avLst/>
              </a:prstGeom>
              <a:blipFill>
                <a:blip r:embed="rId3"/>
                <a:stretch>
                  <a:fillRect l="-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ontent Placeholder 1">
                <a:extLst>
                  <a:ext uri="{FF2B5EF4-FFF2-40B4-BE49-F238E27FC236}">
                    <a16:creationId xmlns:a16="http://schemas.microsoft.com/office/drawing/2014/main" id="{B1550473-6525-35A0-B593-E38ACB820E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5963" y="3358344"/>
                <a:ext cx="5181600" cy="29205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70000"/>
                  </a:lnSpc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Correction step:</a:t>
                </a:r>
              </a:p>
              <a:p>
                <a:pPr marL="600075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6</m:t>
                      </m:r>
                      <m:r>
                        <a:rPr lang="en-GB" sz="160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4.104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(−1)</m:t>
                      </m:r>
                      <m:r>
                        <a:rPr lang="en-GB" sz="16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0.2243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(−1)</m:t>
                      </m:r>
                      <m:r>
                        <a:rPr lang="en-GB" sz="16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0.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8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0.2243(−1)</m:t>
                          </m:r>
                        </m:num>
                        <m:den>
                          <m: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0.2243</m:t>
                          </m:r>
                          <m: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0.8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d>
                        <m:d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sz="16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</m:t>
                      </m:r>
                      <m:r>
                        <a:rPr lang="en-GB" sz="16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 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GB" sz="16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Content Placeholder 1">
                <a:extLst>
                  <a:ext uri="{FF2B5EF4-FFF2-40B4-BE49-F238E27FC236}">
                    <a16:creationId xmlns:a16="http://schemas.microsoft.com/office/drawing/2014/main" id="{B1550473-6525-35A0-B593-E38ACB820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963" y="3358344"/>
                <a:ext cx="5181600" cy="2920532"/>
              </a:xfrm>
              <a:prstGeom prst="rect">
                <a:avLst/>
              </a:prstGeom>
              <a:blipFill>
                <a:blip r:embed="rId4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ontent Placeholder 1">
                <a:extLst>
                  <a:ext uri="{FF2B5EF4-FFF2-40B4-BE49-F238E27FC236}">
                    <a16:creationId xmlns:a16="http://schemas.microsoft.com/office/drawing/2014/main" id="{F5BB3AE3-B434-D04D-4E40-1B7FCA9436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5963" y="3358344"/>
                <a:ext cx="5181600" cy="29205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70000"/>
                  </a:lnSpc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Correction step:</a:t>
                </a:r>
              </a:p>
              <a:p>
                <a:pPr marL="600075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1.896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1.0243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160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.2189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d>
                        <m:d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sz="16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</m:t>
                      </m:r>
                      <m:r>
                        <a:rPr lang="en-GB" sz="16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 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GB" sz="16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" name="Content Placeholder 1">
                <a:extLst>
                  <a:ext uri="{FF2B5EF4-FFF2-40B4-BE49-F238E27FC236}">
                    <a16:creationId xmlns:a16="http://schemas.microsoft.com/office/drawing/2014/main" id="{F5BB3AE3-B434-D04D-4E40-1B7FCA943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963" y="3358344"/>
                <a:ext cx="5181600" cy="2920532"/>
              </a:xfrm>
              <a:prstGeom prst="rect">
                <a:avLst/>
              </a:prstGeom>
              <a:blipFill>
                <a:blip r:embed="rId5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ontent Placeholder 1">
                <a:extLst>
                  <a:ext uri="{FF2B5EF4-FFF2-40B4-BE49-F238E27FC236}">
                    <a16:creationId xmlns:a16="http://schemas.microsoft.com/office/drawing/2014/main" id="{9922F94A-F28D-19CD-1AF9-C4076AFA7E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5963" y="3358344"/>
                <a:ext cx="5181600" cy="29205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70000"/>
                  </a:lnSpc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Correction step:</a:t>
                </a:r>
              </a:p>
              <a:p>
                <a:pPr marL="600075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1.896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1.0243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160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.2189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GB" sz="1600" b="0" i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sz="160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GB" sz="1600" b="0" i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</m:t>
                      </m:r>
                      <m:r>
                        <a:rPr lang="en-GB" sz="16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 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600" dirty="0">
                  <a:solidFill>
                    <a:schemeClr val="bg1">
                      <a:lumMod val="50000"/>
                    </a:schemeClr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Content Placeholder 1">
                <a:extLst>
                  <a:ext uri="{FF2B5EF4-FFF2-40B4-BE49-F238E27FC236}">
                    <a16:creationId xmlns:a16="http://schemas.microsoft.com/office/drawing/2014/main" id="{9922F94A-F28D-19CD-1AF9-C4076AFA7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963" y="3358344"/>
                <a:ext cx="5181600" cy="2920532"/>
              </a:xfrm>
              <a:prstGeom prst="rect">
                <a:avLst/>
              </a:prstGeom>
              <a:blipFill>
                <a:blip r:embed="rId6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ontent Placeholder 1">
                <a:extLst>
                  <a:ext uri="{FF2B5EF4-FFF2-40B4-BE49-F238E27FC236}">
                    <a16:creationId xmlns:a16="http://schemas.microsoft.com/office/drawing/2014/main" id="{CBDCDE83-C55B-7A9C-8D65-7CEF50148C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5963" y="3358344"/>
                <a:ext cx="5181600" cy="29205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70000"/>
                  </a:lnSpc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Correction step:</a:t>
                </a:r>
              </a:p>
              <a:p>
                <a:pPr marL="600075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1.896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1.0243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160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.2189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4.104</m:t>
                      </m:r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(−0.2189)</m:t>
                      </m:r>
                      <m:d>
                        <m:d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2.16</m:t>
                          </m:r>
                          <m: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1.896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60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(−0.2189)(−1)</m:t>
                          </m:r>
                        </m:e>
                      </m:d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0.2243</m:t>
                      </m:r>
                    </m:oMath>
                  </m:oMathPara>
                </a14:m>
                <a:endParaRPr lang="en-GB" sz="1600" dirty="0">
                  <a:solidFill>
                    <a:schemeClr val="bg1">
                      <a:lumMod val="50000"/>
                    </a:schemeClr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3" name="Content Placeholder 1">
                <a:extLst>
                  <a:ext uri="{FF2B5EF4-FFF2-40B4-BE49-F238E27FC236}">
                    <a16:creationId xmlns:a16="http://schemas.microsoft.com/office/drawing/2014/main" id="{CBDCDE83-C55B-7A9C-8D65-7CEF50148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963" y="3358344"/>
                <a:ext cx="5181600" cy="2920532"/>
              </a:xfrm>
              <a:prstGeom prst="rect">
                <a:avLst/>
              </a:prstGeom>
              <a:blipFill>
                <a:blip r:embed="rId7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ontent Placeholder 1">
                <a:extLst>
                  <a:ext uri="{FF2B5EF4-FFF2-40B4-BE49-F238E27FC236}">
                    <a16:creationId xmlns:a16="http://schemas.microsoft.com/office/drawing/2014/main" id="{12EA3C1C-F079-5D29-DFFB-10035D7535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5963" y="3358344"/>
                <a:ext cx="5181600" cy="29205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70000"/>
                  </a:lnSpc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GB" sz="1600" b="1" dirty="0">
                    <a:solidFill>
                      <a:schemeClr val="bg1">
                        <a:lumMod val="50000"/>
                      </a:schemeClr>
                    </a:solidFill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Correction step:</a:t>
                </a:r>
              </a:p>
              <a:p>
                <a:pPr marL="600075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1.896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1.0243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160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.2189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4.046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=0.1752</m:t>
                      </m:r>
                    </m:oMath>
                  </m:oMathPara>
                </a14:m>
                <a:endParaRPr lang="en-GB" sz="16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2" name="Content Placeholder 1">
                <a:extLst>
                  <a:ext uri="{FF2B5EF4-FFF2-40B4-BE49-F238E27FC236}">
                    <a16:creationId xmlns:a16="http://schemas.microsoft.com/office/drawing/2014/main" id="{12EA3C1C-F079-5D29-DFFB-10035D753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963" y="3358344"/>
                <a:ext cx="5181600" cy="2920532"/>
              </a:xfrm>
              <a:prstGeom prst="rect">
                <a:avLst/>
              </a:prstGeom>
              <a:blipFill>
                <a:blip r:embed="rId8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C1803861-B7AB-DDE3-3D12-CCE272803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Solution: Iteration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205A300D-26CA-B1A2-DC17-69120686D8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9175" y="1615133"/>
                <a:ext cx="5181600" cy="18915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70000"/>
                  </a:lnSpc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:r>
                  <a:rPr lang="en-GB" sz="1600" dirty="0"/>
                  <a:t>For the first iteration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600" dirty="0"/>
                  <a:t>:</a:t>
                </a:r>
              </a:p>
              <a:p>
                <a:pPr>
                  <a:spcAft>
                    <a:spcPts val="600"/>
                  </a:spcAft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Prediction step:</a:t>
                </a:r>
              </a:p>
              <a:p>
                <a:pPr marL="600075" indent="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3.014</m:t>
                      </m:r>
                      <m:r>
                        <a:rPr lang="en-GB" sz="1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0.1043</m:t>
                      </m:r>
                      <m:r>
                        <a:rPr lang="en-GB" sz="1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.12</m:t>
                      </m:r>
                    </m:oMath>
                  </m:oMathPara>
                </a14:m>
                <a:endParaRPr lang="en-GB" sz="1600" dirty="0">
                  <a:latin typeface="Nexa Light" panose="02000000000000000000" pitchFamily="50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:endParaRPr lang="en-GB" sz="16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dirty="0"/>
              </a:p>
            </p:txBody>
          </p:sp>
        </mc:Choice>
        <mc:Fallback xmlns="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205A300D-26CA-B1A2-DC17-69120686D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75" y="1615133"/>
                <a:ext cx="5181600" cy="1891553"/>
              </a:xfrm>
              <a:prstGeom prst="rect">
                <a:avLst/>
              </a:prstGeom>
              <a:blipFill>
                <a:blip r:embed="rId9"/>
                <a:stretch>
                  <a:fillRect l="-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5E66AB9C-1171-9E60-9479-907414F562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9175" y="1615133"/>
                <a:ext cx="5181600" cy="18915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70000"/>
                  </a:lnSpc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:r>
                  <a:rPr lang="en-GB" sz="1600" dirty="0"/>
                  <a:t>For the first iteration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600" dirty="0"/>
                  <a:t>:</a:t>
                </a:r>
              </a:p>
              <a:p>
                <a:pPr>
                  <a:spcAft>
                    <a:spcPts val="600"/>
                  </a:spcAft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Prediction step:</a:t>
                </a:r>
              </a:p>
              <a:p>
                <a:pPr marL="600075" indent="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4.1043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0.2243</m:t>
                      </m:r>
                    </m:oMath>
                  </m:oMathPara>
                </a14:m>
                <a:endParaRPr lang="en-GB" sz="16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5E66AB9C-1171-9E60-9479-907414F56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75" y="1615133"/>
                <a:ext cx="5181600" cy="1891553"/>
              </a:xfrm>
              <a:prstGeom prst="rect">
                <a:avLst/>
              </a:prstGeom>
              <a:blipFill>
                <a:blip r:embed="rId10"/>
                <a:stretch>
                  <a:fillRect l="-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FCE69EB4-BEF5-2396-6391-F06D8FF9876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5759594" y="3078792"/>
            <a:ext cx="6304691" cy="1480411"/>
          </a:xfrm>
          <a:prstGeom prst="rect">
            <a:avLst/>
          </a:pr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49781C1C-EC90-2D4D-9A46-6B436A59818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5747796" y="2613025"/>
            <a:ext cx="6304692" cy="19462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C661D9-9234-36CF-61F1-788A603D0635}"/>
                  </a:ext>
                </a:extLst>
              </p:cNvPr>
              <p:cNvSpPr txBox="1"/>
              <p:nvPr/>
            </p:nvSpPr>
            <p:spPr>
              <a:xfrm>
                <a:off x="5394084" y="1303328"/>
                <a:ext cx="2626658" cy="993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70000"/>
                  </a:lnSpc>
                  <a:spcBef>
                    <a:spcPts val="600"/>
                  </a:spcBef>
                </a:pPr>
                <a:r>
                  <a:rPr lang="en-GB" sz="1600" i="0" dirty="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</a:rPr>
                  <a:t>Measurement:</a:t>
                </a:r>
                <a:endParaRPr lang="en-GB" sz="1600" dirty="0">
                  <a:solidFill>
                    <a:schemeClr val="bg2">
                      <a:lumMod val="50000"/>
                    </a:schemeClr>
                  </a:solidFill>
                  <a:latin typeface="Nexa-Light" panose="01000000000000000000" pitchFamily="2" charset="0"/>
                </a:endParaRPr>
              </a:p>
              <a:p>
                <a:pPr algn="just">
                  <a:lnSpc>
                    <a:spcPct val="17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2.</m:t>
                    </m:r>
                  </m:oMath>
                </a14:m>
                <a:r>
                  <a:rPr lang="en-GB" dirty="0">
                    <a:solidFill>
                      <a:schemeClr val="bg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a:t>16 </a:t>
                </a:r>
                <a:endParaRPr lang="en-GB" sz="2300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C661D9-9234-36CF-61F1-788A603D0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084" y="1303328"/>
                <a:ext cx="2626658" cy="993542"/>
              </a:xfrm>
              <a:prstGeom prst="rect">
                <a:avLst/>
              </a:prstGeom>
              <a:blipFill>
                <a:blip r:embed="rId15"/>
                <a:stretch>
                  <a:fillRect l="-1392" b="-85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080123DA-7065-F358-A962-2489A7316F6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5745080" y="3072184"/>
            <a:ext cx="6304692" cy="14804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C3199E2-A86E-9E32-15F0-0217CCB260D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47797" y="2628891"/>
            <a:ext cx="6304692" cy="19404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0C2F560-F026-3B03-2980-0157D58DC4F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42365" y="2620319"/>
            <a:ext cx="6304693" cy="1940415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CBD92246-2320-8FD1-66EA-43B4F149932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42364" y="2620319"/>
            <a:ext cx="6304694" cy="1940415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4E18E4A3-62F0-47A8-E41F-D3704F6D2B0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42364" y="2477933"/>
            <a:ext cx="6304694" cy="208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145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7" grpId="1"/>
      <p:bldP spid="6" grpId="0"/>
      <p:bldP spid="6" grpId="1"/>
      <p:bldP spid="49" grpId="0"/>
      <p:bldP spid="49" grpId="1"/>
      <p:bldP spid="50" grpId="0"/>
      <p:bldP spid="50" grpId="1"/>
      <p:bldP spid="51" grpId="0"/>
      <p:bldP spid="51" grpId="1"/>
      <p:bldP spid="53" grpId="0"/>
      <p:bldP spid="53" grpId="1"/>
      <p:bldP spid="52" grpId="0"/>
      <p:bldP spid="8" grpId="0"/>
      <p:bldP spid="8" grpId="1"/>
      <p:bldP spid="10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1BE9E-19E1-4AC1-448D-598DE3A6CD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Kalman Filter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8E398E-75B1-CD24-5DAC-C9E42905A5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Solved Example 1D - 2</a:t>
            </a:r>
          </a:p>
        </p:txBody>
      </p:sp>
    </p:spTree>
    <p:extLst>
      <p:ext uri="{BB962C8B-B14F-4D97-AF65-F5344CB8AC3E}">
        <p14:creationId xmlns:p14="http://schemas.microsoft.com/office/powerpoint/2010/main" val="1326196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DDA96D7-77C1-8B39-46C1-B4496D62ACE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spcAft>
                    <a:spcPts val="1000"/>
                  </a:spcAft>
                </a:pPr>
                <a:r>
                  <a:rPr lang="en-GB" sz="1600" dirty="0">
                    <a:solidFill>
                      <a:schemeClr val="bg1">
                        <a:lumMod val="50000"/>
                      </a:schemeClr>
                    </a:solidFill>
                    <a:latin typeface="Nexa Light" panose="02000000000000000000" pitchFamily="50" charset="0"/>
                  </a:rPr>
                  <a:t>For the following 1D robot, let the linear estimation model to be given by</a:t>
                </a:r>
              </a:p>
              <a:p>
                <a:pPr marL="0" indent="0">
                  <a:lnSpc>
                    <a:spcPct val="150000"/>
                  </a:lnSpc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b="0" i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16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A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  <m: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sz="16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GB" sz="16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B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GB" sz="1600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sz="1600" dirty="0">
                    <a:solidFill>
                      <a:schemeClr val="bg1">
                        <a:lumMod val="50000"/>
                      </a:schemeClr>
                    </a:solidFill>
                    <a:latin typeface="Nexa Light" panose="02000000000000000000" pitchFamily="50" charset="0"/>
                  </a:rPr>
                  <a:t>For this case let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6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A</m:t>
                      </m:r>
                      <m:r>
                        <a:rPr lang="en-GB" sz="16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GB" sz="1600" b="0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6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B</m:t>
                      </m:r>
                      <m:r>
                        <a:rPr lang="en-GB" sz="16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GB" sz="1600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600" dirty="0">
                    <a:solidFill>
                      <a:schemeClr val="bg1">
                        <a:lumMod val="50000"/>
                      </a:schemeClr>
                    </a:solidFill>
                    <a:latin typeface="Nexa Light" panose="02000000000000000000" pitchFamily="50" charset="0"/>
                  </a:rPr>
                  <a:t>and the initial conditions to be:</a:t>
                </a:r>
                <a:endParaRPr lang="en-GB" sz="1600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b="0" i="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μ</m:t>
                        </m:r>
                      </m:e>
                      <m:sub>
                        <m:r>
                          <a:rPr lang="en-GB" sz="1600" i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6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GB" sz="1600" dirty="0">
                    <a:effectLst/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robot initial position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600" dirty="0">
                    <a:effectLst/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b="0" i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Σ</m:t>
                        </m:r>
                      </m:e>
                      <m:sub>
                        <m:r>
                          <a:rPr lang="en-GB" sz="1600" b="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6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GB" sz="1600" dirty="0">
                    <a:effectLst/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initial </a:t>
                </a:r>
                <a:r>
                  <a:rPr lang="en-GB" sz="1600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prediction </a:t>
                </a:r>
                <a:r>
                  <a:rPr lang="en-GB" sz="1600" dirty="0">
                    <a:effectLst/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variance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DDA96D7-77C1-8B39-46C1-B4496D62AC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706" r="-9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969BEF6C-4FDD-A05B-05E0-8104C5F4A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Statement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A2BEBD6-A859-72BA-E004-B25B52F2E3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135582" y="3200400"/>
            <a:ext cx="7031218" cy="165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467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DDA96D7-77C1-8B39-46C1-B4496D62ACE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spcAft>
                    <a:spcPts val="1000"/>
                  </a:spcAft>
                </a:pPr>
                <a:r>
                  <a:rPr lang="en-GB" sz="1600" dirty="0">
                    <a:solidFill>
                      <a:schemeClr val="bg1">
                        <a:lumMod val="50000"/>
                      </a:schemeClr>
                    </a:solidFill>
                    <a:latin typeface="Nexa Light" panose="02000000000000000000" pitchFamily="50" charset="0"/>
                  </a:rPr>
                  <a:t>The observation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sz="16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GB" sz="1600" b="0" i="0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GB" sz="1600" b="0" i="0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GB" sz="1600" b="0" i="0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1600" b="0" i="0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GB" sz="1600" b="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600" b="0" i="1" dirty="0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GB" sz="1600" b="0" i="1" dirty="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GB" sz="1600" b="0" i="0" dirty="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μ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sz="1600" b="0" i="0" dirty="0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en-GB" sz="1600" b="0" i="0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GB" sz="1600" b="0" i="0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</m:d>
                  </m:oMath>
                </a14:m>
                <a:r>
                  <a:rPr lang="en-GB" sz="1600" dirty="0">
                    <a:solidFill>
                      <a:schemeClr val="bg1">
                        <a:lumMod val="50000"/>
                      </a:schemeClr>
                    </a:solidFill>
                    <a:latin typeface="Nexa Light" panose="02000000000000000000" pitchFamily="50" charset="0"/>
                  </a:rPr>
                  <a:t>, can be given by:</a:t>
                </a:r>
              </a:p>
              <a:p>
                <a:pPr marL="0" indent="0">
                  <a:lnSpc>
                    <a:spcPct val="150000"/>
                  </a:lnSpc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i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 i="0" dirty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16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m</m:t>
                      </m:r>
                      <m:r>
                        <a:rPr lang="en-GB" sz="16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b="0" i="0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GB" sz="1600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1000"/>
                  </a:spcAft>
                </a:pPr>
                <a:r>
                  <a:rPr lang="en-GB" sz="1600" dirty="0">
                    <a:solidFill>
                      <a:schemeClr val="bg1">
                        <a:lumMod val="50000"/>
                      </a:schemeClr>
                    </a:solidFill>
                    <a:latin typeface="Nexa Light" panose="02000000000000000000" pitchFamily="50" charset="0"/>
                  </a:rPr>
                  <a:t>Therefore, the observation model is given by</a:t>
                </a:r>
              </a:p>
              <a:p>
                <a:pPr marL="0" indent="0">
                  <a:lnSpc>
                    <a:spcPct val="150000"/>
                  </a:lnSpc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GB" sz="1600" dirty="0">
                  <a:solidFill>
                    <a:schemeClr val="bg1">
                      <a:lumMod val="50000"/>
                    </a:schemeClr>
                  </a:solidFill>
                  <a:latin typeface="Nexa Light" panose="02000000000000000000" pitchFamily="50" charset="0"/>
                </a:endParaRPr>
              </a:p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GB" sz="1600" dirty="0">
                    <a:solidFill>
                      <a:schemeClr val="bg1">
                        <a:lumMod val="50000"/>
                      </a:schemeClr>
                    </a:solidFill>
                    <a:latin typeface="Nexa Light" panose="02000000000000000000" pitchFamily="50" charset="0"/>
                  </a:rPr>
                  <a:t>For this example: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6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m</m:t>
                      </m:r>
                      <m:r>
                        <a:rPr lang="en-GB" sz="16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=6</m:t>
                      </m:r>
                      <m:r>
                        <m:rPr>
                          <m:nor/>
                        </m:rPr>
                        <a:rPr lang="en-GB" sz="1600" dirty="0">
                          <a:latin typeface="Nexa Light" panose="02000000000000000000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1600" dirty="0">
                          <a:latin typeface="Nexa Light" panose="02000000000000000000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landmark</m:t>
                      </m:r>
                      <m:r>
                        <m:rPr>
                          <m:nor/>
                        </m:rPr>
                        <a:rPr lang="en-GB" sz="1600" dirty="0">
                          <a:latin typeface="Nexa Light" panose="02000000000000000000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1600" dirty="0">
                          <a:latin typeface="Nexa Light" panose="02000000000000000000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position</m:t>
                      </m:r>
                    </m:oMath>
                  </m:oMathPara>
                </a14:m>
                <a:endParaRPr lang="en-GB" sz="1600" dirty="0">
                  <a:effectLst/>
                  <a:latin typeface="Nexa Light" panose="02000000000000000000" pitchFamily="50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DDA96D7-77C1-8B39-46C1-B4496D62AC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471" r="-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969BEF6C-4FDD-A05B-05E0-8104C5F4A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Statement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A2BEBD6-A859-72BA-E004-B25B52F2E3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135582" y="3200400"/>
            <a:ext cx="7031218" cy="165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506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DDA96D7-77C1-8B39-46C1-B4496D62ACE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91352" y="1851933"/>
                <a:ext cx="5181600" cy="4351338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70000"/>
                  </a:lnSpc>
                  <a:spcBef>
                    <a:spcPts val="600"/>
                  </a:spcBef>
                </a:pPr>
                <a:r>
                  <a:rPr lang="en-GB" sz="1600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Assume the following conditions remain constant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∀</m:t>
                    </m:r>
                    <m:r>
                      <m:rPr>
                        <m:sty m:val="p"/>
                      </m:rPr>
                      <a:rPr lang="en-GB" sz="1600" i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k</m:t>
                    </m:r>
                  </m:oMath>
                </a14:m>
                <a:endParaRPr lang="en-GB" sz="1600" dirty="0">
                  <a:latin typeface="Nexa Light" panose="02000000000000000000" pitchFamily="50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17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i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600" i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k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60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0.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8</m:t>
                    </m:r>
                  </m:oMath>
                </a14:m>
                <a:r>
                  <a:rPr lang="en-GB" sz="1600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motion variance.</a:t>
                </a:r>
              </a:p>
              <a:p>
                <a:pPr lvl="1" algn="just">
                  <a:lnSpc>
                    <a:spcPct val="17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600" i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k</m:t>
                        </m:r>
                      </m:sub>
                    </m:sSub>
                    <m:r>
                      <a:rPr lang="en-GB" sz="1600" i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60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0.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12</m:t>
                    </m:r>
                  </m:oMath>
                </a14:m>
                <a:r>
                  <a:rPr lang="en-GB" sz="1600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observation model variance</a:t>
                </a:r>
              </a:p>
              <a:p>
                <a:pPr lvl="1" algn="just">
                  <a:lnSpc>
                    <a:spcPct val="17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600" i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k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</m:t>
                    </m:r>
                    <m:r>
                      <a:rPr lang="en-GB" sz="160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GB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GB" sz="1600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mobile robot linear velocity</a:t>
                </a:r>
              </a:p>
              <a:p>
                <a:pPr lvl="1" algn="just">
                  <a:lnSpc>
                    <a:spcPct val="170000"/>
                  </a:lnSpc>
                  <a:spcBef>
                    <a:spcPts val="600"/>
                  </a:spcBef>
                </a:pPr>
                <a:r>
                  <a:rPr lang="en-GB" sz="1600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Δt</m:t>
                    </m:r>
                    <m:r>
                      <a:rPr lang="en-GB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</m:t>
                    </m:r>
                    <m:r>
                      <a:rPr lang="en-GB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GB" sz="1600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sampling time</a:t>
                </a:r>
              </a:p>
              <a:p>
                <a:pPr marL="457200" lvl="1" indent="0">
                  <a:lnSpc>
                    <a:spcPct val="170000"/>
                  </a:lnSpc>
                  <a:spcBef>
                    <a:spcPts val="600"/>
                  </a:spcBef>
                  <a:buNone/>
                </a:pPr>
                <a:endParaRPr lang="en-GB" sz="1600" dirty="0">
                  <a:latin typeface="Nexa Light" panose="02000000000000000000" pitchFamily="50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70000"/>
                  </a:lnSpc>
                  <a:spcBef>
                    <a:spcPts val="600"/>
                  </a:spcBef>
                  <a:buNone/>
                </a:pPr>
                <a:r>
                  <a:rPr lang="en-GB" sz="1600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For this case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GB" sz="1600" b="0" i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n-GB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sz="1600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!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DDA96D7-77C1-8B39-46C1-B4496D62AC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91352" y="1851933"/>
                <a:ext cx="5181600" cy="4351338"/>
              </a:xfrm>
              <a:blipFill>
                <a:blip r:embed="rId2"/>
                <a:stretch>
                  <a:fillRect l="-706" r="-5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969BEF6C-4FDD-A05B-05E0-8104C5F4A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Statement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A2BEBD6-A859-72BA-E004-B25B52F2E3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135582" y="3200400"/>
            <a:ext cx="7031218" cy="165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527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Picture 226">
            <a:extLst>
              <a:ext uri="{FF2B5EF4-FFF2-40B4-BE49-F238E27FC236}">
                <a16:creationId xmlns:a16="http://schemas.microsoft.com/office/drawing/2014/main" id="{E833D777-6D56-0F06-1436-6AADFE94E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759593" y="2628891"/>
            <a:ext cx="6295080" cy="19278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ontent Placeholder 1">
                <a:extLst>
                  <a:ext uri="{FF2B5EF4-FFF2-40B4-BE49-F238E27FC236}">
                    <a16:creationId xmlns:a16="http://schemas.microsoft.com/office/drawing/2014/main" id="{5BBADE1E-3E0C-A4EB-D12F-758C2EFF1C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366175"/>
                <a:ext cx="5181600" cy="29205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70000"/>
                  </a:lnSpc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Correction step:</a:t>
                </a:r>
              </a:p>
              <a:p>
                <a:pPr marL="600075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160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m</m:t>
                      </m:r>
                      <m:r>
                        <a:rPr lang="en-GB" sz="160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b="0" i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GB" sz="16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GB" sz="16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num>
                        <m:den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GB" sz="16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GB" sz="16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d>
                        <m:d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sz="16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</m:t>
                      </m:r>
                      <m:r>
                        <a:rPr lang="en-GB" sz="16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 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GB" sz="16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Content Placeholder 1">
                <a:extLst>
                  <a:ext uri="{FF2B5EF4-FFF2-40B4-BE49-F238E27FC236}">
                    <a16:creationId xmlns:a16="http://schemas.microsoft.com/office/drawing/2014/main" id="{5BBADE1E-3E0C-A4EB-D12F-758C2EFF1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366175"/>
                <a:ext cx="5181600" cy="2920532"/>
              </a:xfrm>
              <a:prstGeom prst="rect">
                <a:avLst/>
              </a:prstGeom>
              <a:blipFill>
                <a:blip r:embed="rId4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ontent Placeholder 1">
                <a:extLst>
                  <a:ext uri="{FF2B5EF4-FFF2-40B4-BE49-F238E27FC236}">
                    <a16:creationId xmlns:a16="http://schemas.microsoft.com/office/drawing/2014/main" id="{B1550473-6525-35A0-B593-E38ACB820E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3490" y="3365036"/>
                <a:ext cx="5181600" cy="29205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70000"/>
                  </a:lnSpc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Correction step:</a:t>
                </a:r>
              </a:p>
              <a:p>
                <a:pPr marL="600075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=6−3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(−1)</m:t>
                      </m:r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0.8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(−1)</m:t>
                      </m:r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+0.12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0.8</m:t>
                          </m:r>
                          <m:r>
                            <a:rPr lang="en-GB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(−1)</m:t>
                          </m:r>
                        </m:num>
                        <m:den>
                          <m: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0.8+0.12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d>
                        <m:d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sz="16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</m:t>
                      </m:r>
                      <m:r>
                        <a:rPr lang="en-GB" sz="16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 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GB" sz="16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Content Placeholder 1">
                <a:extLst>
                  <a:ext uri="{FF2B5EF4-FFF2-40B4-BE49-F238E27FC236}">
                    <a16:creationId xmlns:a16="http://schemas.microsoft.com/office/drawing/2014/main" id="{B1550473-6525-35A0-B593-E38ACB820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490" y="3365036"/>
                <a:ext cx="5181600" cy="2920532"/>
              </a:xfrm>
              <a:prstGeom prst="rect">
                <a:avLst/>
              </a:prstGeom>
              <a:blipFill>
                <a:blip r:embed="rId5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ontent Placeholder 1">
                <a:extLst>
                  <a:ext uri="{FF2B5EF4-FFF2-40B4-BE49-F238E27FC236}">
                    <a16:creationId xmlns:a16="http://schemas.microsoft.com/office/drawing/2014/main" id="{F5BB3AE3-B434-D04D-4E40-1B7FCA9436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3490" y="3365036"/>
                <a:ext cx="5181600" cy="29205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70000"/>
                  </a:lnSpc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Correction step:</a:t>
                </a:r>
              </a:p>
              <a:p>
                <a:pPr marL="600075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=0.92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0.8695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d>
                        <m:d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sz="16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</m:t>
                      </m:r>
                      <m:r>
                        <a:rPr lang="en-GB" sz="16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 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GB" sz="16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" name="Content Placeholder 1">
                <a:extLst>
                  <a:ext uri="{FF2B5EF4-FFF2-40B4-BE49-F238E27FC236}">
                    <a16:creationId xmlns:a16="http://schemas.microsoft.com/office/drawing/2014/main" id="{F5BB3AE3-B434-D04D-4E40-1B7FCA943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490" y="3365036"/>
                <a:ext cx="5181600" cy="2920532"/>
              </a:xfrm>
              <a:prstGeom prst="rect">
                <a:avLst/>
              </a:prstGeom>
              <a:blipFill>
                <a:blip r:embed="rId6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ontent Placeholder 1">
                <a:extLst>
                  <a:ext uri="{FF2B5EF4-FFF2-40B4-BE49-F238E27FC236}">
                    <a16:creationId xmlns:a16="http://schemas.microsoft.com/office/drawing/2014/main" id="{9922F94A-F28D-19CD-1AF9-C4076AFA7E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3490" y="3365036"/>
                <a:ext cx="5181600" cy="29205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70000"/>
                  </a:lnSpc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Correction step:</a:t>
                </a:r>
              </a:p>
              <a:p>
                <a:pPr marL="600075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=0.92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0.8695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GB" sz="1600" b="0" i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sz="160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GB" sz="1600" b="0" i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</m:t>
                      </m:r>
                      <m:r>
                        <a:rPr lang="en-GB" sz="16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 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600" dirty="0">
                  <a:solidFill>
                    <a:schemeClr val="bg1">
                      <a:lumMod val="50000"/>
                    </a:schemeClr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Content Placeholder 1">
                <a:extLst>
                  <a:ext uri="{FF2B5EF4-FFF2-40B4-BE49-F238E27FC236}">
                    <a16:creationId xmlns:a16="http://schemas.microsoft.com/office/drawing/2014/main" id="{9922F94A-F28D-19CD-1AF9-C4076AFA7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490" y="3365036"/>
                <a:ext cx="5181600" cy="2920532"/>
              </a:xfrm>
              <a:prstGeom prst="rect">
                <a:avLst/>
              </a:prstGeom>
              <a:blipFill>
                <a:blip r:embed="rId7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ontent Placeholder 1">
                <a:extLst>
                  <a:ext uri="{FF2B5EF4-FFF2-40B4-BE49-F238E27FC236}">
                    <a16:creationId xmlns:a16="http://schemas.microsoft.com/office/drawing/2014/main" id="{CBDCDE83-C55B-7A9C-8D65-7CEF50148C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3490" y="3365036"/>
                <a:ext cx="5181600" cy="29205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70000"/>
                  </a:lnSpc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Correction step:</a:t>
                </a:r>
              </a:p>
              <a:p>
                <a:pPr marL="600075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=0.92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0.8695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(−0.8695)</m:t>
                      </m:r>
                      <m:d>
                        <m:d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2.88</m:t>
                          </m:r>
                          <m: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60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(−0.8695)(−1)</m:t>
                          </m:r>
                        </m:e>
                      </m:d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0.8</m:t>
                      </m:r>
                    </m:oMath>
                  </m:oMathPara>
                </a14:m>
                <a:endParaRPr lang="en-GB" sz="1600" dirty="0">
                  <a:solidFill>
                    <a:schemeClr val="bg1">
                      <a:lumMod val="50000"/>
                    </a:schemeClr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3" name="Content Placeholder 1">
                <a:extLst>
                  <a:ext uri="{FF2B5EF4-FFF2-40B4-BE49-F238E27FC236}">
                    <a16:creationId xmlns:a16="http://schemas.microsoft.com/office/drawing/2014/main" id="{CBDCDE83-C55B-7A9C-8D65-7CEF50148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490" y="3365036"/>
                <a:ext cx="5181600" cy="2920532"/>
              </a:xfrm>
              <a:prstGeom prst="rect">
                <a:avLst/>
              </a:prstGeom>
              <a:blipFill>
                <a:blip r:embed="rId8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ontent Placeholder 1">
                <a:extLst>
                  <a:ext uri="{FF2B5EF4-FFF2-40B4-BE49-F238E27FC236}">
                    <a16:creationId xmlns:a16="http://schemas.microsoft.com/office/drawing/2014/main" id="{12EA3C1C-F079-5D29-DFFB-10035D7535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3490" y="3365036"/>
                <a:ext cx="5181600" cy="29205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70000"/>
                  </a:lnSpc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GB" sz="1600" b="1" dirty="0">
                    <a:solidFill>
                      <a:schemeClr val="bg1">
                        <a:lumMod val="50000"/>
                      </a:schemeClr>
                    </a:solidFill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Correction step:</a:t>
                </a:r>
              </a:p>
              <a:p>
                <a:pPr marL="600075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=0.92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160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8695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3.104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=0.1044</m:t>
                      </m:r>
                    </m:oMath>
                  </m:oMathPara>
                </a14:m>
                <a:endParaRPr lang="en-GB" sz="16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2" name="Content Placeholder 1">
                <a:extLst>
                  <a:ext uri="{FF2B5EF4-FFF2-40B4-BE49-F238E27FC236}">
                    <a16:creationId xmlns:a16="http://schemas.microsoft.com/office/drawing/2014/main" id="{12EA3C1C-F079-5D29-DFFB-10035D753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490" y="3365036"/>
                <a:ext cx="5181600" cy="2920532"/>
              </a:xfrm>
              <a:prstGeom prst="rect">
                <a:avLst/>
              </a:prstGeom>
              <a:blipFill>
                <a:blip r:embed="rId9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F7E08D9-A671-052A-A81A-B1DDD2F3DBB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604682"/>
                <a:ext cx="5181600" cy="189155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70000"/>
                  </a:lnSpc>
                  <a:spcAft>
                    <a:spcPts val="1200"/>
                  </a:spcAft>
                  <a:buNone/>
                </a:pPr>
                <a:r>
                  <a:rPr lang="en-GB" sz="1600" dirty="0"/>
                  <a:t>For the first iteration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i="0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1600" dirty="0"/>
                  <a:t>:</a:t>
                </a:r>
              </a:p>
              <a:p>
                <a:pPr>
                  <a:spcAft>
                    <a:spcPts val="600"/>
                  </a:spcAft>
                </a:pPr>
                <a:r>
                  <a:rPr lang="en-GB" sz="1600" b="1" dirty="0">
                    <a:solidFill>
                      <a:schemeClr val="bg2">
                        <a:lumMod val="50000"/>
                      </a:schemeClr>
                    </a:solidFill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Prediction step:</a:t>
                </a:r>
              </a:p>
              <a:p>
                <a:pPr marL="600075" indent="0">
                  <a:lnSpc>
                    <a:spcPct val="150000"/>
                  </a:lnSpc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b="0" i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sz="16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b="0" i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sz="16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 b="0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GB" sz="1600" dirty="0">
                  <a:solidFill>
                    <a:schemeClr val="bg2">
                      <a:lumMod val="50000"/>
                    </a:schemeClr>
                  </a:solidFill>
                  <a:latin typeface="Nexa Light" panose="02000000000000000000" pitchFamily="50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Aft>
                    <a:spcPts val="600"/>
                  </a:spcAft>
                  <a:buNone/>
                </a:pPr>
                <a:endParaRPr lang="en-GB" sz="1600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GB" sz="16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F7E08D9-A671-052A-A81A-B1DDD2F3DB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604682"/>
                <a:ext cx="5181600" cy="1891553"/>
              </a:xfrm>
              <a:blipFill>
                <a:blip r:embed="rId10"/>
                <a:stretch>
                  <a:fillRect l="-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C1803861-B7AB-DDE3-3D12-CCE272803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Solution: Iteration 1</a:t>
            </a:r>
          </a:p>
        </p:txBody>
      </p:sp>
      <p:pic>
        <p:nvPicPr>
          <p:cNvPr id="5" name="Content Placeholder 8">
            <a:extLst>
              <a:ext uri="{FF2B5EF4-FFF2-40B4-BE49-F238E27FC236}">
                <a16:creationId xmlns:a16="http://schemas.microsoft.com/office/drawing/2014/main" id="{D8F9AAF6-003D-A78F-AA97-A6F8D2DF3A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5759594" y="3082565"/>
            <a:ext cx="6295079" cy="14811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3E1EE7DC-A597-61DE-9F1A-48A68B4324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8588" y="1612130"/>
                <a:ext cx="5181600" cy="18915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70000"/>
                  </a:lnSpc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:r>
                  <a:rPr lang="en-GB" sz="1600" dirty="0"/>
                  <a:t>For the first iteration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1600" dirty="0"/>
                  <a:t>:</a:t>
                </a:r>
              </a:p>
              <a:p>
                <a:pPr>
                  <a:spcAft>
                    <a:spcPts val="600"/>
                  </a:spcAft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Prediction step:</a:t>
                </a:r>
              </a:p>
              <a:p>
                <a:pPr marL="600075" indent="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smtClean="0"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600" dirty="0">
                  <a:latin typeface="Nexa Light" panose="02000000000000000000" pitchFamily="50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:endParaRPr lang="en-GB" sz="16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dirty="0"/>
              </a:p>
            </p:txBody>
          </p:sp>
        </mc:Choice>
        <mc:Fallback xmlns="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3E1EE7DC-A597-61DE-9F1A-48A68B432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588" y="1612130"/>
                <a:ext cx="5181600" cy="1891553"/>
              </a:xfrm>
              <a:prstGeom prst="rect">
                <a:avLst/>
              </a:prstGeom>
              <a:blipFill>
                <a:blip r:embed="rId13"/>
                <a:stretch>
                  <a:fillRect l="-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205A300D-26CA-B1A2-DC17-69120686D8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8588" y="1612130"/>
                <a:ext cx="5181600" cy="18915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70000"/>
                  </a:lnSpc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:r>
                  <a:rPr lang="en-GB" sz="1600" dirty="0"/>
                  <a:t>For the first iteration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1600" dirty="0"/>
                  <a:t>:</a:t>
                </a:r>
              </a:p>
              <a:p>
                <a:pPr>
                  <a:spcAft>
                    <a:spcPts val="600"/>
                  </a:spcAft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Prediction step:</a:t>
                </a:r>
              </a:p>
              <a:p>
                <a:pPr marL="600075" indent="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.8</m:t>
                      </m:r>
                    </m:oMath>
                  </m:oMathPara>
                </a14:m>
                <a:endParaRPr lang="en-GB" sz="1600" dirty="0">
                  <a:latin typeface="Nexa Light" panose="02000000000000000000" pitchFamily="50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:endParaRPr lang="en-GB" sz="16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dirty="0"/>
              </a:p>
            </p:txBody>
          </p:sp>
        </mc:Choice>
        <mc:Fallback xmlns="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205A300D-26CA-B1A2-DC17-69120686D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588" y="1612130"/>
                <a:ext cx="5181600" cy="1891553"/>
              </a:xfrm>
              <a:prstGeom prst="rect">
                <a:avLst/>
              </a:prstGeom>
              <a:blipFill>
                <a:blip r:embed="rId14"/>
                <a:stretch>
                  <a:fillRect l="-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5E66AB9C-1171-9E60-9479-907414F562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8588" y="1612130"/>
                <a:ext cx="5181600" cy="18915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70000"/>
                  </a:lnSpc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:r>
                  <a:rPr lang="en-GB" sz="1600" dirty="0"/>
                  <a:t>For the first iteration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1600" dirty="0"/>
                  <a:t>:</a:t>
                </a:r>
              </a:p>
              <a:p>
                <a:pPr>
                  <a:spcAft>
                    <a:spcPts val="600"/>
                  </a:spcAft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Prediction step:</a:t>
                </a:r>
              </a:p>
              <a:p>
                <a:pPr marL="600075" indent="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GB" sz="16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5E66AB9C-1171-9E60-9479-907414F56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588" y="1612130"/>
                <a:ext cx="5181600" cy="1891553"/>
              </a:xfrm>
              <a:prstGeom prst="rect">
                <a:avLst/>
              </a:prstGeom>
              <a:blipFill>
                <a:blip r:embed="rId15"/>
                <a:stretch>
                  <a:fillRect l="-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FCE69EB4-BEF5-2396-6391-F06D8FF9876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5759594" y="3078792"/>
            <a:ext cx="6304691" cy="148041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995D8BEA-515E-82FE-BF35-3911480B9A5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5769206" y="2633940"/>
            <a:ext cx="6295079" cy="19278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8F2EC9A-D85B-B2AF-7733-18D237CA847E}"/>
                  </a:ext>
                </a:extLst>
              </p:cNvPr>
              <p:cNvSpPr txBox="1"/>
              <p:nvPr/>
            </p:nvSpPr>
            <p:spPr>
              <a:xfrm>
                <a:off x="5394084" y="1303328"/>
                <a:ext cx="2626658" cy="993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70000"/>
                  </a:lnSpc>
                  <a:spcBef>
                    <a:spcPts val="600"/>
                  </a:spcBef>
                </a:pPr>
                <a:r>
                  <a:rPr lang="en-GB" sz="1600" i="0" dirty="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</a:rPr>
                  <a:t>Measurement:</a:t>
                </a:r>
                <a:endParaRPr lang="en-GB" sz="1600" dirty="0">
                  <a:solidFill>
                    <a:schemeClr val="bg2">
                      <a:lumMod val="50000"/>
                    </a:schemeClr>
                  </a:solidFill>
                  <a:latin typeface="Nexa-Light" panose="01000000000000000000" pitchFamily="2" charset="0"/>
                </a:endParaRPr>
              </a:p>
              <a:p>
                <a:pPr algn="just">
                  <a:lnSpc>
                    <a:spcPct val="17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GB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2.88</m:t>
                    </m:r>
                  </m:oMath>
                </a14:m>
                <a:r>
                  <a:rPr lang="en-GB" dirty="0">
                    <a:solidFill>
                      <a:schemeClr val="bg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endParaRPr lang="en-GB" sz="2300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8F2EC9A-D85B-B2AF-7733-18D237CA8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084" y="1303328"/>
                <a:ext cx="2626658" cy="993542"/>
              </a:xfrm>
              <a:prstGeom prst="rect">
                <a:avLst/>
              </a:prstGeom>
              <a:blipFill>
                <a:blip r:embed="rId20"/>
                <a:stretch>
                  <a:fillRect l="-13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8" name="Picture 117">
            <a:extLst>
              <a:ext uri="{FF2B5EF4-FFF2-40B4-BE49-F238E27FC236}">
                <a16:creationId xmlns:a16="http://schemas.microsoft.com/office/drawing/2014/main" id="{DA0DCFAE-D894-BBB3-E4CA-CCF050CF945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5769205" y="2647790"/>
            <a:ext cx="6295080" cy="1927803"/>
          </a:xfrm>
          <a:prstGeom prst="rect">
            <a:avLst/>
          </a:pr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49781C1C-EC90-2D4D-9A46-6B436A59818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5764495" y="2458423"/>
            <a:ext cx="6295080" cy="209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236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7" grpId="1"/>
      <p:bldP spid="49" grpId="0"/>
      <p:bldP spid="49" grpId="1"/>
      <p:bldP spid="50" grpId="0"/>
      <p:bldP spid="50" grpId="1"/>
      <p:bldP spid="51" grpId="0"/>
      <p:bldP spid="51" grpId="1"/>
      <p:bldP spid="53" grpId="0"/>
      <p:bldP spid="53" grpId="1"/>
      <p:bldP spid="52" grpId="0"/>
      <p:bldP spid="2" grpId="0" build="p"/>
      <p:bldP spid="2" grpId="1" build="p"/>
      <p:bldP spid="6" grpId="0"/>
      <p:bldP spid="6" grpId="1"/>
      <p:bldP spid="8" grpId="0"/>
      <p:bldP spid="8" grpId="1"/>
      <p:bldP spid="10" grpId="0"/>
      <p:bldP spid="5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ontent Placeholder 1">
                <a:extLst>
                  <a:ext uri="{FF2B5EF4-FFF2-40B4-BE49-F238E27FC236}">
                    <a16:creationId xmlns:a16="http://schemas.microsoft.com/office/drawing/2014/main" id="{5BBADE1E-3E0C-A4EB-D12F-758C2EFF1C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5162" y="3363975"/>
                <a:ext cx="5181600" cy="29205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70000"/>
                  </a:lnSpc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Correction step:</a:t>
                </a:r>
              </a:p>
              <a:p>
                <a:pPr marL="600075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160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m</m:t>
                      </m:r>
                      <m:r>
                        <a:rPr lang="en-GB" sz="160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GB" sz="16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sz="16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num>
                        <m:den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sz="16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d>
                        <m:d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sz="16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</m:t>
                      </m:r>
                      <m:r>
                        <a:rPr lang="en-GB" sz="16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 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GB" sz="16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Content Placeholder 1">
                <a:extLst>
                  <a:ext uri="{FF2B5EF4-FFF2-40B4-BE49-F238E27FC236}">
                    <a16:creationId xmlns:a16="http://schemas.microsoft.com/office/drawing/2014/main" id="{5BBADE1E-3E0C-A4EB-D12F-758C2EFF1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162" y="3363975"/>
                <a:ext cx="5181600" cy="2920532"/>
              </a:xfrm>
              <a:prstGeom prst="rect">
                <a:avLst/>
              </a:prstGeom>
              <a:blipFill>
                <a:blip r:embed="rId2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3E1EE7DC-A597-61DE-9F1A-48A68B4324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4606" y="1604682"/>
                <a:ext cx="5181600" cy="18915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70000"/>
                  </a:lnSpc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:r>
                  <a:rPr lang="en-GB" sz="1600" dirty="0"/>
                  <a:t>For the first iteration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600" dirty="0"/>
                  <a:t>:</a:t>
                </a:r>
              </a:p>
              <a:p>
                <a:pPr>
                  <a:spcAft>
                    <a:spcPts val="600"/>
                  </a:spcAft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Prediction step:</a:t>
                </a:r>
              </a:p>
              <a:p>
                <a:pPr marL="600075" indent="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smtClean="0"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600" dirty="0">
                  <a:latin typeface="Nexa Light" panose="02000000000000000000" pitchFamily="50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:endParaRPr lang="en-GB" sz="16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dirty="0"/>
              </a:p>
            </p:txBody>
          </p:sp>
        </mc:Choice>
        <mc:Fallback xmlns="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3E1EE7DC-A597-61DE-9F1A-48A68B432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06" y="1604682"/>
                <a:ext cx="5181600" cy="1891553"/>
              </a:xfrm>
              <a:prstGeom prst="rect">
                <a:avLst/>
              </a:prstGeom>
              <a:blipFill>
                <a:blip r:embed="rId3"/>
                <a:stretch>
                  <a:fillRect l="-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ontent Placeholder 1">
                <a:extLst>
                  <a:ext uri="{FF2B5EF4-FFF2-40B4-BE49-F238E27FC236}">
                    <a16:creationId xmlns:a16="http://schemas.microsoft.com/office/drawing/2014/main" id="{B1550473-6525-35A0-B593-E38ACB820E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1206" y="3363975"/>
                <a:ext cx="5181600" cy="29205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70000"/>
                  </a:lnSpc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Correction step:</a:t>
                </a:r>
              </a:p>
              <a:p>
                <a:pPr marL="600075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6</m:t>
                      </m:r>
                      <m:r>
                        <a:rPr lang="en-GB" sz="160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4.104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(−1)</m:t>
                      </m:r>
                      <m:r>
                        <a:rPr lang="en-GB" sz="16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0.9044</m:t>
                      </m:r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(−1)</m:t>
                      </m:r>
                      <m:r>
                        <a:rPr lang="en-GB" sz="16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+0.12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0.9044</m:t>
                          </m:r>
                          <m:r>
                            <a:rPr lang="en-GB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(−1)</m:t>
                          </m:r>
                        </m:num>
                        <m:den>
                          <m: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0.9044+0.12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d>
                        <m:d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sz="16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</m:t>
                      </m:r>
                      <m:r>
                        <a:rPr lang="en-GB" sz="16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 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GB" sz="16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Content Placeholder 1">
                <a:extLst>
                  <a:ext uri="{FF2B5EF4-FFF2-40B4-BE49-F238E27FC236}">
                    <a16:creationId xmlns:a16="http://schemas.microsoft.com/office/drawing/2014/main" id="{B1550473-6525-35A0-B593-E38ACB820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06" y="3363975"/>
                <a:ext cx="5181600" cy="2920532"/>
              </a:xfrm>
              <a:prstGeom prst="rect">
                <a:avLst/>
              </a:prstGeom>
              <a:blipFill>
                <a:blip r:embed="rId4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ontent Placeholder 1">
                <a:extLst>
                  <a:ext uri="{FF2B5EF4-FFF2-40B4-BE49-F238E27FC236}">
                    <a16:creationId xmlns:a16="http://schemas.microsoft.com/office/drawing/2014/main" id="{F5BB3AE3-B434-D04D-4E40-1B7FCA9436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1206" y="3363975"/>
                <a:ext cx="5181600" cy="29205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70000"/>
                  </a:lnSpc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Correction step:</a:t>
                </a:r>
              </a:p>
              <a:p>
                <a:pPr marL="600075" indent="0" algn="ctr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1.8956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b="0" i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=1.0244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160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.8828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d>
                        <m:d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sz="16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</m:t>
                      </m:r>
                      <m:r>
                        <a:rPr lang="en-GB" sz="16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  <m:r>
                        <a:rPr lang="en-GB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 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GB" sz="16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" name="Content Placeholder 1">
                <a:extLst>
                  <a:ext uri="{FF2B5EF4-FFF2-40B4-BE49-F238E27FC236}">
                    <a16:creationId xmlns:a16="http://schemas.microsoft.com/office/drawing/2014/main" id="{F5BB3AE3-B434-D04D-4E40-1B7FCA943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06" y="3363975"/>
                <a:ext cx="5181600" cy="2920532"/>
              </a:xfrm>
              <a:prstGeom prst="rect">
                <a:avLst/>
              </a:prstGeom>
              <a:blipFill>
                <a:blip r:embed="rId5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ontent Placeholder 1">
                <a:extLst>
                  <a:ext uri="{FF2B5EF4-FFF2-40B4-BE49-F238E27FC236}">
                    <a16:creationId xmlns:a16="http://schemas.microsoft.com/office/drawing/2014/main" id="{9922F94A-F28D-19CD-1AF9-C4076AFA7E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1206" y="3363975"/>
                <a:ext cx="5181600" cy="29205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70000"/>
                  </a:lnSpc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Correction step:</a:t>
                </a:r>
              </a:p>
              <a:p>
                <a:pPr marL="600075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1.8956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=1.0244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16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0.8828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GB" sz="1600" b="0" i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sz="160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GB" sz="1600" b="0" i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</m:t>
                      </m:r>
                      <m:r>
                        <a:rPr lang="en-GB" sz="16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 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600" dirty="0">
                  <a:solidFill>
                    <a:schemeClr val="bg1">
                      <a:lumMod val="50000"/>
                    </a:schemeClr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Content Placeholder 1">
                <a:extLst>
                  <a:ext uri="{FF2B5EF4-FFF2-40B4-BE49-F238E27FC236}">
                    <a16:creationId xmlns:a16="http://schemas.microsoft.com/office/drawing/2014/main" id="{9922F94A-F28D-19CD-1AF9-C4076AFA7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06" y="3363975"/>
                <a:ext cx="5181600" cy="2920532"/>
              </a:xfrm>
              <a:prstGeom prst="rect">
                <a:avLst/>
              </a:prstGeom>
              <a:blipFill>
                <a:blip r:embed="rId6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ontent Placeholder 1">
                <a:extLst>
                  <a:ext uri="{FF2B5EF4-FFF2-40B4-BE49-F238E27FC236}">
                    <a16:creationId xmlns:a16="http://schemas.microsoft.com/office/drawing/2014/main" id="{CBDCDE83-C55B-7A9C-8D65-7CEF50148C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1206" y="3363975"/>
                <a:ext cx="5181600" cy="29205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70000"/>
                  </a:lnSpc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Correction step:</a:t>
                </a:r>
              </a:p>
              <a:p>
                <a:pPr marL="600075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1.8956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=1.0244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16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0.8828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4.104</m:t>
                      </m:r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16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(−0.8828)</m:t>
                      </m:r>
                      <m:d>
                        <m:d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2.024</m:t>
                          </m:r>
                          <m: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1.8956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60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(−0.8828)(−1)</m:t>
                          </m:r>
                        </m:e>
                      </m:d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0.9044</m:t>
                      </m:r>
                    </m:oMath>
                  </m:oMathPara>
                </a14:m>
                <a:endParaRPr lang="en-GB" sz="1600" dirty="0">
                  <a:solidFill>
                    <a:schemeClr val="bg1">
                      <a:lumMod val="50000"/>
                    </a:schemeClr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3" name="Content Placeholder 1">
                <a:extLst>
                  <a:ext uri="{FF2B5EF4-FFF2-40B4-BE49-F238E27FC236}">
                    <a16:creationId xmlns:a16="http://schemas.microsoft.com/office/drawing/2014/main" id="{CBDCDE83-C55B-7A9C-8D65-7CEF50148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06" y="3363975"/>
                <a:ext cx="5181600" cy="2920532"/>
              </a:xfrm>
              <a:prstGeom prst="rect">
                <a:avLst/>
              </a:prstGeom>
              <a:blipFill>
                <a:blip r:embed="rId7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ontent Placeholder 1">
                <a:extLst>
                  <a:ext uri="{FF2B5EF4-FFF2-40B4-BE49-F238E27FC236}">
                    <a16:creationId xmlns:a16="http://schemas.microsoft.com/office/drawing/2014/main" id="{12EA3C1C-F079-5D29-DFFB-10035D7535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1206" y="3363975"/>
                <a:ext cx="5181600" cy="29205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70000"/>
                  </a:lnSpc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GB" sz="1600" b="1" dirty="0">
                    <a:solidFill>
                      <a:schemeClr val="bg1">
                        <a:lumMod val="50000"/>
                      </a:schemeClr>
                    </a:solidFill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Correction step:</a:t>
                </a:r>
              </a:p>
              <a:p>
                <a:pPr marL="600075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1.8956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=1.0244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16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0.8828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3.99103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1600" b="0" i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=0.10599</m:t>
                      </m:r>
                    </m:oMath>
                  </m:oMathPara>
                </a14:m>
                <a:endParaRPr lang="en-GB" sz="16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2" name="Content Placeholder 1">
                <a:extLst>
                  <a:ext uri="{FF2B5EF4-FFF2-40B4-BE49-F238E27FC236}">
                    <a16:creationId xmlns:a16="http://schemas.microsoft.com/office/drawing/2014/main" id="{12EA3C1C-F079-5D29-DFFB-10035D753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06" y="3363975"/>
                <a:ext cx="5181600" cy="2920532"/>
              </a:xfrm>
              <a:prstGeom prst="rect">
                <a:avLst/>
              </a:prstGeom>
              <a:blipFill>
                <a:blip r:embed="rId8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C1803861-B7AB-DDE3-3D12-CCE272803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Solution: Iteration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205A300D-26CA-B1A2-DC17-69120686D8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1204" y="1613856"/>
                <a:ext cx="5181600" cy="18915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70000"/>
                  </a:lnSpc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:r>
                  <a:rPr lang="en-GB" sz="1600" dirty="0"/>
                  <a:t>For the first iteration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600" dirty="0"/>
                  <a:t>:</a:t>
                </a:r>
              </a:p>
              <a:p>
                <a:pPr>
                  <a:spcAft>
                    <a:spcPts val="600"/>
                  </a:spcAft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Prediction step:</a:t>
                </a:r>
              </a:p>
              <a:p>
                <a:pPr marL="600075" indent="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3.104</m:t>
                      </m:r>
                      <m:r>
                        <a:rPr lang="en-GB" sz="1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0.1044</m:t>
                      </m:r>
                      <m:r>
                        <a:rPr lang="en-GB" sz="1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.8</m:t>
                      </m:r>
                    </m:oMath>
                  </m:oMathPara>
                </a14:m>
                <a:endParaRPr lang="en-GB" sz="1600" dirty="0">
                  <a:latin typeface="Nexa Light" panose="02000000000000000000" pitchFamily="50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:endParaRPr lang="en-GB" sz="16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dirty="0"/>
              </a:p>
            </p:txBody>
          </p:sp>
        </mc:Choice>
        <mc:Fallback xmlns="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205A300D-26CA-B1A2-DC17-69120686D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04" y="1613856"/>
                <a:ext cx="5181600" cy="1891553"/>
              </a:xfrm>
              <a:prstGeom prst="rect">
                <a:avLst/>
              </a:prstGeom>
              <a:blipFill>
                <a:blip r:embed="rId9"/>
                <a:stretch>
                  <a:fillRect l="-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5E66AB9C-1171-9E60-9479-907414F562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1204" y="1613856"/>
                <a:ext cx="5181600" cy="18915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70000"/>
                  </a:lnSpc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:r>
                  <a:rPr lang="en-GB" sz="1600" dirty="0"/>
                  <a:t>For the first iteration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600" dirty="0"/>
                  <a:t>:</a:t>
                </a:r>
              </a:p>
              <a:p>
                <a:pPr>
                  <a:spcAft>
                    <a:spcPts val="600"/>
                  </a:spcAft>
                </a:pPr>
                <a:r>
                  <a:rPr lang="en-GB" sz="1600" b="1" dirty="0">
                    <a:latin typeface="Nexa Light" panose="02000000000000000000" pitchFamily="50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Prediction step:</a:t>
                </a:r>
              </a:p>
              <a:p>
                <a:pPr marL="600075" indent="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4.104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0.9044</m:t>
                      </m:r>
                    </m:oMath>
                  </m:oMathPara>
                </a14:m>
                <a:endParaRPr lang="en-GB" sz="160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5E66AB9C-1171-9E60-9479-907414F56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04" y="1613856"/>
                <a:ext cx="5181600" cy="1891553"/>
              </a:xfrm>
              <a:prstGeom prst="rect">
                <a:avLst/>
              </a:prstGeom>
              <a:blipFill>
                <a:blip r:embed="rId10"/>
                <a:stretch>
                  <a:fillRect l="-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FCE69EB4-BEF5-2396-6391-F06D8FF9876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5759594" y="3078792"/>
            <a:ext cx="6304691" cy="1480411"/>
          </a:xfrm>
          <a:prstGeom prst="rect">
            <a:avLst/>
          </a:pr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49781C1C-EC90-2D4D-9A46-6B436A59818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5759594" y="2485270"/>
            <a:ext cx="6304694" cy="20963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C661D9-9234-36CF-61F1-788A603D0635}"/>
                  </a:ext>
                </a:extLst>
              </p:cNvPr>
              <p:cNvSpPr txBox="1"/>
              <p:nvPr/>
            </p:nvSpPr>
            <p:spPr>
              <a:xfrm>
                <a:off x="5394084" y="1303328"/>
                <a:ext cx="2626658" cy="993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70000"/>
                  </a:lnSpc>
                  <a:spcBef>
                    <a:spcPts val="600"/>
                  </a:spcBef>
                </a:pPr>
                <a:r>
                  <a:rPr lang="en-GB" sz="1600" i="0" dirty="0">
                    <a:solidFill>
                      <a:schemeClr val="bg2">
                        <a:lumMod val="50000"/>
                      </a:schemeClr>
                    </a:solidFill>
                    <a:latin typeface="Nexa-Light" panose="01000000000000000000" pitchFamily="2" charset="0"/>
                  </a:rPr>
                  <a:t>Measurement:</a:t>
                </a:r>
                <a:endParaRPr lang="en-GB" sz="1600" dirty="0">
                  <a:solidFill>
                    <a:schemeClr val="bg2">
                      <a:lumMod val="50000"/>
                    </a:schemeClr>
                  </a:solidFill>
                  <a:latin typeface="Nexa-Light" panose="01000000000000000000" pitchFamily="2" charset="0"/>
                </a:endParaRPr>
              </a:p>
              <a:p>
                <a:pPr algn="just">
                  <a:lnSpc>
                    <a:spcPct val="17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2.024</m:t>
                    </m:r>
                  </m:oMath>
                </a14:m>
                <a:r>
                  <a:rPr lang="en-GB" dirty="0">
                    <a:solidFill>
                      <a:schemeClr val="bg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endParaRPr lang="en-GB" sz="2300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C661D9-9234-36CF-61F1-788A603D0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084" y="1303328"/>
                <a:ext cx="2626658" cy="993542"/>
              </a:xfrm>
              <a:prstGeom prst="rect">
                <a:avLst/>
              </a:prstGeom>
              <a:blipFill>
                <a:blip r:embed="rId15"/>
                <a:stretch>
                  <a:fillRect l="-13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080123DA-7065-F358-A962-2489A7316F6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5745080" y="3072184"/>
            <a:ext cx="6304692" cy="14804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C3199E2-A86E-9E32-15F0-0217CCB260D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5759592" y="2639684"/>
            <a:ext cx="6304692" cy="19307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0C2F560-F026-3B03-2980-0157D58DC4F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5759592" y="2639684"/>
            <a:ext cx="6304693" cy="193074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CBD92246-2320-8FD1-66EA-43B4F149932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5759592" y="2634507"/>
            <a:ext cx="6304694" cy="1935924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4E18E4A3-62F0-47A8-E41F-D3704F6D2B0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5759592" y="2494748"/>
            <a:ext cx="6304694" cy="207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723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7" grpId="1"/>
      <p:bldP spid="6" grpId="0"/>
      <p:bldP spid="6" grpId="1"/>
      <p:bldP spid="49" grpId="0"/>
      <p:bldP spid="49" grpId="1"/>
      <p:bldP spid="50" grpId="0"/>
      <p:bldP spid="50" grpId="1"/>
      <p:bldP spid="51" grpId="0"/>
      <p:bldP spid="51" grpId="1"/>
      <p:bldP spid="53" grpId="0"/>
      <p:bldP spid="53" grpId="1"/>
      <p:bldP spid="52" grpId="0"/>
      <p:bldP spid="8" grpId="0"/>
      <p:bldP spid="8" grpId="1"/>
      <p:bldP spid="10" grpId="0"/>
      <p:bldP spid="13" grpId="0"/>
    </p:bldLst>
  </p:timing>
</p:sld>
</file>

<file path=ppt/theme/theme1.xml><?xml version="1.0" encoding="utf-8"?>
<a:theme xmlns:a="http://schemas.openxmlformats.org/drawingml/2006/main" name="MCR2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31C2F4BA-8CD1-424B-B5B5-360BB9C4429E}" vid="{4383FA9D-3BE3-4AD1-B8EA-46A5EDA21D0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MCR2_PowerPoint_Template</Template>
  <TotalTime>0</TotalTime>
  <Words>1639</Words>
  <Application>Microsoft Office PowerPoint</Application>
  <PresentationFormat>Widescreen</PresentationFormat>
  <Paragraphs>174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Consolas</vt:lpstr>
      <vt:lpstr>Nexa Bold</vt:lpstr>
      <vt:lpstr>Nexa Light</vt:lpstr>
      <vt:lpstr>Nexa-Bold</vt:lpstr>
      <vt:lpstr>Nexa-Book</vt:lpstr>
      <vt:lpstr>Nexa-Light</vt:lpstr>
      <vt:lpstr>MCR2 Theme</vt:lpstr>
      <vt:lpstr>Kalman Filter</vt:lpstr>
      <vt:lpstr>Problem Statement</vt:lpstr>
      <vt:lpstr>Problem Statement</vt:lpstr>
      <vt:lpstr>Problem Statement</vt:lpstr>
      <vt:lpstr>Problem Statement</vt:lpstr>
      <vt:lpstr>Problem Statement</vt:lpstr>
      <vt:lpstr>Problem Statement</vt:lpstr>
      <vt:lpstr>Problem Statement</vt:lpstr>
      <vt:lpstr>Solution: Iteration 1</vt:lpstr>
      <vt:lpstr>Solution: Iteration 2</vt:lpstr>
      <vt:lpstr>Kalman Filter</vt:lpstr>
      <vt:lpstr>Problem Statement</vt:lpstr>
      <vt:lpstr>Problem Statement</vt:lpstr>
      <vt:lpstr>Problem Statement</vt:lpstr>
      <vt:lpstr>Solution: Iteration 1</vt:lpstr>
      <vt:lpstr>Solution: Iteration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Kalman Filter</dc:title>
  <dc:creator>Mario Martinez</dc:creator>
  <cp:lastModifiedBy>Alexandru Stancu</cp:lastModifiedBy>
  <cp:revision>9</cp:revision>
  <dcterms:created xsi:type="dcterms:W3CDTF">2024-05-24T07:43:11Z</dcterms:created>
  <dcterms:modified xsi:type="dcterms:W3CDTF">2025-05-16T18:11:07Z</dcterms:modified>
</cp:coreProperties>
</file>